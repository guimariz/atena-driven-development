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17ff8add874a8d" /><Relationship Type="http://schemas.openxmlformats.org/officeDocument/2006/relationships/extended-properties" Target="/docProps/app.xml" Id="R2a8f574a55734bdb" /><Relationship Type="http://schemas.openxmlformats.org/officeDocument/2006/relationships/officeDocument" Target="/ppt/presentation.xml" Id="R300b87c3dda243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5cbe5b460c4317"/>
  </p:sldMasterIdLst>
  <p:notesMasterIdLst>
    <p:notesMasterId xmlns:r="http://schemas.openxmlformats.org/officeDocument/2006/relationships" r:id="R1ea19f6b76fc408c"/>
  </p:notesMasterIdLst>
  <p:sldIdLst>
    <p:sldId xmlns:r="http://schemas.openxmlformats.org/officeDocument/2006/relationships" id="256" r:id="Rdec8abba7f684eac"/>
    <p:sldId xmlns:r="http://schemas.openxmlformats.org/officeDocument/2006/relationships" id="257" r:id="Rc530f3e1166143dc"/>
    <p:sldId xmlns:r="http://schemas.openxmlformats.org/officeDocument/2006/relationships" id="258" r:id="R75e43ed1ed8d4816"/>
    <p:sldId xmlns:r="http://schemas.openxmlformats.org/officeDocument/2006/relationships" id="259" r:id="R15df2feaa6114862"/>
    <p:sldId xmlns:r="http://schemas.openxmlformats.org/officeDocument/2006/relationships" id="260" r:id="Rbd575077f95e4ad3"/>
    <p:sldId xmlns:r="http://schemas.openxmlformats.org/officeDocument/2006/relationships" id="261" r:id="Rd9c1dc650e744052"/>
    <p:sldId xmlns:r="http://schemas.openxmlformats.org/officeDocument/2006/relationships" id="262" r:id="Rd285ad408c394a65"/>
    <p:sldId xmlns:r="http://schemas.openxmlformats.org/officeDocument/2006/relationships" id="263" r:id="Re2405bd0b28845b3"/>
    <p:sldId xmlns:r="http://schemas.openxmlformats.org/officeDocument/2006/relationships" id="264" r:id="Re5085421ac2a4b02"/>
    <p:sldId xmlns:r="http://schemas.openxmlformats.org/officeDocument/2006/relationships" id="265" r:id="R35b1db15bdd4435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3f04a49ce941a4" /><Relationship Type="http://schemas.openxmlformats.org/officeDocument/2006/relationships/slideMaster" Target="/ppt/slideMasters/slideMaster1.xml" Id="Rfb5cbe5b460c4317" /><Relationship Type="http://schemas.openxmlformats.org/officeDocument/2006/relationships/notesMaster" Target="/ppt/notesMasters/notesMaster1.xml" Id="R1ea19f6b76fc408c" /><Relationship Type="http://schemas.openxmlformats.org/officeDocument/2006/relationships/presProps" Target="/ppt/presProps.xml" Id="Rc3f6be24a71846ba" /><Relationship Type="http://schemas.openxmlformats.org/officeDocument/2006/relationships/tableStyles" Target="/ppt/tableStyles.xml" Id="R3cf9ef1ba603476e" /><Relationship Type="http://schemas.openxmlformats.org/officeDocument/2006/relationships/slide" Target="/ppt/slides/slide1.xml" Id="Rdec8abba7f684eac" /><Relationship Type="http://schemas.openxmlformats.org/officeDocument/2006/relationships/slide" Target="/ppt/slides/slide2.xml" Id="Rc530f3e1166143dc" /><Relationship Type="http://schemas.openxmlformats.org/officeDocument/2006/relationships/slide" Target="/ppt/slides/slide3.xml" Id="R75e43ed1ed8d4816" /><Relationship Type="http://schemas.openxmlformats.org/officeDocument/2006/relationships/slide" Target="/ppt/slides/slide4.xml" Id="R15df2feaa6114862" /><Relationship Type="http://schemas.openxmlformats.org/officeDocument/2006/relationships/slide" Target="/ppt/slides/slide5.xml" Id="Rbd575077f95e4ad3" /><Relationship Type="http://schemas.openxmlformats.org/officeDocument/2006/relationships/slide" Target="/ppt/slides/slide6.xml" Id="Rd9c1dc650e744052" /><Relationship Type="http://schemas.openxmlformats.org/officeDocument/2006/relationships/slide" Target="/ppt/slides/slide7.xml" Id="Rd285ad408c394a65" /><Relationship Type="http://schemas.openxmlformats.org/officeDocument/2006/relationships/slide" Target="/ppt/slides/slide8.xml" Id="Re2405bd0b28845b3" /><Relationship Type="http://schemas.openxmlformats.org/officeDocument/2006/relationships/slide" Target="/ppt/slides/slide9.xml" Id="Re5085421ac2a4b02" /><Relationship Type="http://schemas.openxmlformats.org/officeDocument/2006/relationships/slide" Target="/ppt/slides/slide10.xml" Id="R35b1db15bdd443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c24963c78e64d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cb1bd5b5394f94" /><Relationship Type="http://schemas.openxmlformats.org/officeDocument/2006/relationships/notesMaster" Target="/ppt/notesMasters/notesMaster1.xml" Id="Rc6fca65f0e1343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9423482921645dc" /><Relationship Type="http://schemas.openxmlformats.org/officeDocument/2006/relationships/notesMaster" Target="/ppt/notesMasters/notesMaster1.xml" Id="R66049792e13849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66717a859a348a1" /><Relationship Type="http://schemas.openxmlformats.org/officeDocument/2006/relationships/notesMaster" Target="/ppt/notesMasters/notesMaster1.xml" Id="R25fecbdb431c4e3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ed2b90bd374403" /><Relationship Type="http://schemas.openxmlformats.org/officeDocument/2006/relationships/notesMaster" Target="/ppt/notesMasters/notesMaster1.xml" Id="Red5fc07304c04b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135281bb0984676" /><Relationship Type="http://schemas.openxmlformats.org/officeDocument/2006/relationships/notesMaster" Target="/ppt/notesMasters/notesMaster1.xml" Id="R2833b2556203426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c5a7cd072464a23" /><Relationship Type="http://schemas.openxmlformats.org/officeDocument/2006/relationships/notesMaster" Target="/ppt/notesMasters/notesMaster1.xml" Id="Rb2739624cb1a41c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3bac75df81c42a8" /><Relationship Type="http://schemas.openxmlformats.org/officeDocument/2006/relationships/notesMaster" Target="/ppt/notesMasters/notesMaster1.xml" Id="R87eb189042b246c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702e40305054792" /><Relationship Type="http://schemas.openxmlformats.org/officeDocument/2006/relationships/notesMaster" Target="/ppt/notesMasters/notesMaster1.xml" Id="R0e006bfa0c5b404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e8ed6f0ac6e49ee" /><Relationship Type="http://schemas.openxmlformats.org/officeDocument/2006/relationships/notesMaster" Target="/ppt/notesMasters/notesMaster1.xml" Id="R8eac995d5c4b4c5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e872b3b4bdf4923" /><Relationship Type="http://schemas.openxmlformats.org/officeDocument/2006/relationships/notesMaster" Target="/ppt/notesMasters/notesMaster1.xml" Id="R77b2d68858c54a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0:45.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Imagine um pedido pequeno: acrescentar um resumo de status ao projeto. O arquivo final responde ao pedido, mas também queremos saber quais decisões ele respeitou, como foi verificado e onde isso ficará registrado para a próxima conversa. Neste vídeo, acompanharemos esse mesmo pedido pelo ADD. Atena organiza o caminho, e os arquivos do projeto preservam o que foi decidido e observado.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locais: ADD.md; .atena/vault/drafts/roteiro-explicativo-add.md, bloco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1:30.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ADD significa Atena Driven Development. É um método local de trabalho sob direção humana. A solicitação vira uma mudança delimitada, a execução produz observações, e os arquivos guardam a intenção e a evidência. O projeto continua compreensível quando a conversa termina. Nosso exemplo é um resumo de status. Vamos perguntar: qual resultado queremos, o que já existe e o que prova que ficou certo? Essa sequência será retomada em cada parte da apresentação.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locais: ADD.md; README.md; roteiro, blocos 1 e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1:30.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pessoa dona do projeto define o objetivo e aprova mudanças materiais. Atena consulta o projeto, recomenda um caminho, prepara a execução autorizada e acompanha o resultado. Ferramentas leem, editam ou verificam elementos específicos. Uma skill descreve um procedimento repetível, e um agente pode receber uma entrega delimitada quando houver necessidade e autorização. Uma saída de ferramenta ou um documento entregue mantém sua própria proveniência.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locais: ADD.md; INTERACTION.md; AUTONOMY.md; roteiro, bloco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2:30.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Este repositório mantém o método. Cada projeto que o adota usa uma pasta .atena como workspace local. add.yaml configura a aplicação do método. No vault, canon guarda intenção aprovada, drafts guarda propostas, e research guarda investigações. specs descreve mudanças delimitadas. evidence registra o que foi observado. generated reúne artefatos derivados. state/plan.yaml guarda o ponto de retorno da execução. AGENTS.md fica na raiz e fornece as instruções que o assistente precisa carregar. O contrato é portátil; Git pode replicar esses arquivos. A pasta automation é opcional quando alguma skill ou agente é adotado.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Mostrar na gravação: abrir example-project/.atena/ e localizar essas pastas.</a:t>
            </a:r>
          </a:p>
          <a:p xmlns:a="http://schemas.openxmlformats.org/drawingml/2006/main">
            <a:r>
              <a:t>Fontes locais: CONTRACT.md; README.md; example-project/; roteiro, blocos 3 a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2:00.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Uma ideia pode nascer em drafts e continuar experimental. Research reúne fontes e hipóteses para apoiar decisões. CANON exige aprovação explícita do conteúdo e da revisão, além de ID estável e registro de revisão. O exemplo à direita vem de example-project: DEC-001 aprovou .atena como workspace. Essa aprovação de intenção é distinta de implementar e verificar uma mudança. Permitir um teste com um draft mantém esse conteúdo em DRAFT. A aprovação do plano que criou esta apresentação também não promove slides nem roteiro a CANON.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do trecho real: example-project/.atena/vault/canon/DEC-001-local-add-workspace.md. Outras fontes: ADD.md; POLICIES.md; roteiro, bloco 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2:00.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Quando a pessoa diz “Atena, acrescente um resumo de status”, o endereço explícito ativa Guided ADD: análise, spec, plano, lacunas e aprovação precedem a execução planejada. No pedido direto “Acrescente um resumo de status”, o trabalho local comum pode seguir logo dentro do escopo. Depois, Atena oferece uma reconciliação fiel ao que ocorreu. No projeto de exemplo, SPEC-001 registra origin planned e implementation_preceded_spec false; SPEC-002 registra origin post-hoc e implementation_preceded_spec true. Esses registros são históricos de example-project, não novas execuções nesta apresentação. Os gates materiais continuam válidos nos dois caminhos.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dos trechos reais: example-project/.atena/specs/SPEC-001-guided-status-summary/spec.md; example-project/.atena/specs/SPEC-002-post-hoc-project-note/spec.md. Outras fontes: INTERACTION.md; WORKFLOW.md; roteiro, bloco 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2:30.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spec é uma mudança com fronteiras explícitas. spec.md explica objetivo, escopo, decisões e critérios. plan.md mostra etapas, verificações, limites e recuperação. tasks.md acompanha trabalho concreto. acceptance.md confronta os critérios com evidência. Se faltar algo que impeça execução correta, a lacuna é BLOCKING e precisa ser resolvida. RESOLVABLE recebe um default fundamentado; DEFERRED fica fora desta entrega e visível. Com o plano pronto, a pessoa escolhe aprovação por plano, lote ou etapa. O checkpoint identifica escopo e revisão. No exemplo, o critério verifica se PROJECT-STATUS.md informa o workspace correto e nomeia os dois modos.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locais: CONTRACT.md; INTERACTION.md; templates/spec/; example-project/.atena/specs/SPEC-001-guided-status-summary/; roteiro, blocos 8 e 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2:00.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Após o checkpoint aprovado, state/plan.yaml registra qual plano está ativo, a etapa atual e a próxima. O cursor permite retomar sem confiar apenas na conversa. Um pedido novo durante o plano pode estar dentro dele, desviar temporariamente, ou exigir revisão do próprio plano. No desvio, Atena pode salvar o cursor e voltar depois, ou registrar um pedido pendente. A aprovação por plano, lote ou etapa controla o escopo ordinário. Mudanças materiais em canon, segurança, dados, dependências novas e publicação têm gates próprios.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locais: WORKFLOW.md; AUTONOMY.md; CONTRACT.md; roteiro, blocos 10 e 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3:15, incluindo cerca de 2:00 de demonstração.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Mostre primeiro a ligação entre critério, verificação, evidência e reconciliação. Em seguida, mude para os arquivos reais de example-project/.atena/. Abra vault/canon/DEC-001-local-add-workspace.md, specs/SPEC-001-guided-status-summary/spec.md e evidence/SPEC-001-guided-status-summary/result.md. Em acceptance.md, AC-1 e AC-2 aparecem como pass. O resultado informa que PROJECT-STATUS.md contém .atena/, Guided ADD e Direct Execution. Essa é evidência documental do exemplo; ela prova essas afirmações específicas. Ao terminar, volte ao slide e explique que reconciliação atualiza fatos operacionais permitidos e mantém propostas ou exceções visíveis. Grafos e índices derivados refletem os registros aprovados; inferências não ganham autoridade automaticamente.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dos trechos reais: example-project/.atena/specs/SPEC-001-guided-status-summary/acceptance.md; example-project/.atena/evidence/SPEC-001-guided-status-summary/result.md. Outras fontes: WORKFLOW.md; POLICIES.md; roteiro, bloco 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1:45.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ADD pode acompanhar software, pesquisa, conteúdo ou jogos. No caminho opcional de jogos, Atena estrutura visão, design, escopo e bíblia visual antes de recomendar engine e ferramentas. O protótipo testa uma hipótese; o playtest informa o que observar e depende da experiência humana para avaliar sensação, dificuldade e diversão. Skills e agentes entram conforme necessidades concretas e com limites definidos. Para começar, escolha um pedido pequeno. Localize a intenção, delimite a mudança e pergunte qual evidência permite chamar o resultado de concluído. Na gravação, encerre aqui; a publicação é uma etapa separada que você fará.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locais: GAMES.md; GAME-SPECIALISTS.md; README.md; roteiro, blocos 13 e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8b85edc4e74b5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1f62581bcd34195" /><Relationship Type="http://schemas.openxmlformats.org/officeDocument/2006/relationships/slideLayout" Target="/ppt/slideLayouts/slideLayout1.xml" Id="Rabf4a574d00e47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f4a574d00e47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c51135837e435c" /><Relationship Type="http://schemas.openxmlformats.org/officeDocument/2006/relationships/notesSlide" Target="/ppt/notesSlides/notesSlide1.xml" Id="R7546bdb13f7d46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45077e3f794aab" /><Relationship Type="http://schemas.openxmlformats.org/officeDocument/2006/relationships/notesSlide" Target="/ppt/notesSlides/notesSlide2.xml" Id="R3fd966b8debe4b2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18710ff3c3414b" /><Relationship Type="http://schemas.openxmlformats.org/officeDocument/2006/relationships/notesSlide" Target="/ppt/notesSlides/notesSlide3.xml" Id="R033aeb129b9a480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86e269d045435a" /><Relationship Type="http://schemas.openxmlformats.org/officeDocument/2006/relationships/notesSlide" Target="/ppt/notesSlides/notesSlide4.xml" Id="R2f21428de836440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01400cf4b34aa0" /><Relationship Type="http://schemas.openxmlformats.org/officeDocument/2006/relationships/notesSlide" Target="/ppt/notesSlides/notesSlide5.xml" Id="Raee9b782a4be407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41342469084df5" /><Relationship Type="http://schemas.openxmlformats.org/officeDocument/2006/relationships/notesSlide" Target="/ppt/notesSlides/notesSlide6.xml" Id="R1702ddcb4aa5403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17aff6cf0e4231" /><Relationship Type="http://schemas.openxmlformats.org/officeDocument/2006/relationships/notesSlide" Target="/ppt/notesSlides/notesSlide7.xml" Id="Re076c1666bb7499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a9a645c96541c0" /><Relationship Type="http://schemas.openxmlformats.org/officeDocument/2006/relationships/notesSlide" Target="/ppt/notesSlides/notesSlide8.xml" Id="Ra8499e4ede8d455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2ff28809b1444e" /><Relationship Type="http://schemas.openxmlformats.org/officeDocument/2006/relationships/notesSlide" Target="/ppt/notesSlides/notesSlide9.xml" Id="Rc36dc0d5a47f46c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1cf221d2514b6c" /><Relationship Type="http://schemas.openxmlformats.org/officeDocument/2006/relationships/notesSlide" Target="/ppt/notesSlides/notesSlide10.xml" Id="Rcff23ded650e4d2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6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7B1F2B5-7E9B-44B9-BA83-A46537D6B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Atena e ADD</a:t>
            </a:r>
          </a:p>
        </p:txBody>
      </p:sp>
      <p:sp>
        <p:nvSpPr>
          <p:cNvPr id="2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86BE350B-5305-4B25-B9DB-978871888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43200"/>
            <a:ext cx="981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D9E5E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D9E5E5"/>
                </a:solidFill>
                <a:latin typeface="Arial"/>
                <a:ea typeface="Arial"/>
                <a:cs typeface="Arial"/>
              </a:rPr>
              <a:t>Como um pedido vira trabalho verificável</a:t>
            </a:r>
          </a:p>
        </p:txBody>
      </p:sp>
      <p:sp>
        <p:nvSpPr>
          <p:cNvPr id="3" name="text-82-590">
            <a:extLst xmlns:a="http://schemas.openxmlformats.org/drawingml/2006/main">
              <a:ext uri="{FF2B5EF4-FFF2-40B4-BE49-F238E27FC236}">
                <a16:creationId xmlns:a16="http://schemas.microsoft.com/office/drawing/2014/main" id="{9051AB8E-6BFC-4813-8395-AC656DBAE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97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1D2D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1D2D2"/>
                </a:solidFill>
                <a:latin typeface="Arial"/>
                <a:ea typeface="Arial"/>
                <a:cs typeface="Arial"/>
              </a:rPr>
              <a:t>Um exemplo do pedido à evidência</a:t>
            </a:r>
          </a:p>
        </p:txBody>
      </p:sp>
    </p:spTree>
    <p:extLst>
      <p:ext uri="{BB962C8B-B14F-4D97-AF65-F5344CB8AC3E}">
        <p14:creationId xmlns:p14="http://schemas.microsoft.com/office/powerpoint/2010/main" val="16880102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2">
            <a:extLst xmlns:a="http://schemas.openxmlformats.org/drawingml/2006/main">
              <a:ext uri="{FF2B5EF4-FFF2-40B4-BE49-F238E27FC236}">
                <a16:creationId xmlns:a16="http://schemas.microsoft.com/office/drawing/2014/main" id="{15757F46-040B-4218-AA1B-2BC1FA837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63C"/>
                </a:solidFill>
                <a:latin typeface="Arial"/>
                <a:ea typeface="Arial"/>
                <a:cs typeface="Arial"/>
              </a:rPr>
              <a:t>Do pedido à memória do projeto</a:t>
            </a:r>
          </a:p>
        </p:txBody>
      </p:sp>
      <p:sp>
        <p:nvSpPr>
          <p:cNvPr id="2" name="page-2">
            <a:extLst xmlns:a="http://schemas.openxmlformats.org/drawingml/2006/main">
              <a:ext uri="{FF2B5EF4-FFF2-40B4-BE49-F238E27FC236}">
                <a16:creationId xmlns:a16="http://schemas.microsoft.com/office/drawing/2014/main" id="{6F103AF3-59D6-4706-97BE-CBCC71BD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674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stage-0">
            <a:extLst xmlns:a="http://schemas.openxmlformats.org/drawingml/2006/main">
              <a:ext uri="{FF2B5EF4-FFF2-40B4-BE49-F238E27FC236}">
                <a16:creationId xmlns:a16="http://schemas.microsoft.com/office/drawing/2014/main" id="{7DD3A4E5-35D4-46C5-8963-A1F9FDCF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6754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67545"/>
                </a:solidFill>
                <a:latin typeface="Arial"/>
                <a:ea typeface="Arial"/>
                <a:cs typeface="Arial"/>
              </a:rPr>
              <a:t>Pedido</a:t>
            </a:r>
          </a:p>
        </p:txBody>
      </p:sp>
      <p:sp>
        <p:nvSpPr>
          <p:cNvPr id="4" name="stage-detail-0">
            <a:extLst xmlns:a="http://schemas.openxmlformats.org/drawingml/2006/main">
              <a:ext uri="{FF2B5EF4-FFF2-40B4-BE49-F238E27FC236}">
                <a16:creationId xmlns:a16="http://schemas.microsoft.com/office/drawing/2014/main" id="{D3BF6E69-69D2-49FF-AD82-37EDD75C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63C"/>
                </a:solidFill>
                <a:latin typeface="Arial"/>
                <a:ea typeface="Arial"/>
                <a:cs typeface="Arial"/>
              </a:rPr>
              <a:t>Resumo de status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38CBC6-4622-4674-B025-FE39DE74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6860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B8D7D3"/>
            </a:solidFill>
          </a:ln>
        </p:spPr>
      </p:sp>
      <p:sp>
        <p:nvSpPr>
          <p:cNvPr id="6" name="stage-1">
            <a:extLst xmlns:a="http://schemas.openxmlformats.org/drawingml/2006/main">
              <a:ext uri="{FF2B5EF4-FFF2-40B4-BE49-F238E27FC236}">
                <a16:creationId xmlns:a16="http://schemas.microsoft.com/office/drawing/2014/main" id="{3612C380-6ADC-4DA8-B834-B7540752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33625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4797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797B"/>
                </a:solidFill>
                <a:latin typeface="Arial"/>
                <a:ea typeface="Arial"/>
                <a:cs typeface="Arial"/>
              </a:rPr>
              <a:t>Mudança</a:t>
            </a:r>
          </a:p>
        </p:txBody>
      </p:sp>
      <p:sp>
        <p:nvSpPr>
          <p:cNvPr id="7" name="stage-detail-1">
            <a:extLst xmlns:a="http://schemas.openxmlformats.org/drawingml/2006/main">
              <a:ext uri="{FF2B5EF4-FFF2-40B4-BE49-F238E27FC236}">
                <a16:creationId xmlns:a16="http://schemas.microsoft.com/office/drawing/2014/main" id="{DB35824A-9687-458B-BCA9-76209AC7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00375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63C"/>
                </a:solidFill>
                <a:latin typeface="Arial"/>
                <a:ea typeface="Arial"/>
                <a:cs typeface="Arial"/>
              </a:rPr>
              <a:t>Escopo delimitado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17BC39-1F7A-46E2-9839-27F836FA3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6860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B8D7D3"/>
            </a:solidFill>
          </a:ln>
        </p:spPr>
      </p:sp>
      <p:sp>
        <p:nvSpPr>
          <p:cNvPr id="9" name="stage-2">
            <a:extLst xmlns:a="http://schemas.openxmlformats.org/drawingml/2006/main">
              <a:ext uri="{FF2B5EF4-FFF2-40B4-BE49-F238E27FC236}">
                <a16:creationId xmlns:a16="http://schemas.microsoft.com/office/drawing/2014/main" id="{D4E2176D-2DDD-4A8A-927E-8127E725A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33625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4797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797B"/>
                </a:solidFill>
                <a:latin typeface="Arial"/>
                <a:ea typeface="Arial"/>
                <a:cs typeface="Arial"/>
              </a:rPr>
              <a:t>Evidência</a:t>
            </a:r>
          </a:p>
        </p:txBody>
      </p:sp>
      <p:sp>
        <p:nvSpPr>
          <p:cNvPr id="10" name="stage-detail-2">
            <a:extLst xmlns:a="http://schemas.openxmlformats.org/drawingml/2006/main">
              <a:ext uri="{FF2B5EF4-FFF2-40B4-BE49-F238E27FC236}">
                <a16:creationId xmlns:a16="http://schemas.microsoft.com/office/drawing/2014/main" id="{EDF15B3D-E4EC-44E0-82C9-A63FE7B2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00375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63C"/>
                </a:solidFill>
                <a:latin typeface="Arial"/>
                <a:ea typeface="Arial"/>
                <a:cs typeface="Arial"/>
              </a:rPr>
              <a:t>Critérios conferidos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E788FF-E231-4942-90F4-69A2DCD1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6860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B8D7D3"/>
            </a:solidFill>
          </a:ln>
        </p:spPr>
      </p:sp>
      <p:sp>
        <p:nvSpPr>
          <p:cNvPr id="12" name="stage-3">
            <a:extLst xmlns:a="http://schemas.openxmlformats.org/drawingml/2006/main">
              <a:ext uri="{FF2B5EF4-FFF2-40B4-BE49-F238E27FC236}">
                <a16:creationId xmlns:a16="http://schemas.microsoft.com/office/drawing/2014/main" id="{C208532A-8FB3-4032-A5E2-44F28B23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33625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4797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797B"/>
                </a:solidFill>
                <a:latin typeface="Arial"/>
                <a:ea typeface="Arial"/>
                <a:cs typeface="Arial"/>
              </a:rPr>
              <a:t>Memória</a:t>
            </a:r>
          </a:p>
        </p:txBody>
      </p:sp>
      <p:sp>
        <p:nvSpPr>
          <p:cNvPr id="13" name="stage-detail-3">
            <a:extLst xmlns:a="http://schemas.openxmlformats.org/drawingml/2006/main">
              <a:ext uri="{FF2B5EF4-FFF2-40B4-BE49-F238E27FC236}">
                <a16:creationId xmlns:a16="http://schemas.microsoft.com/office/drawing/2014/main" id="{AAD35892-B839-405C-9A43-D1FFB9165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000375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63C"/>
                </a:solidFill>
                <a:latin typeface="Arial"/>
                <a:ea typeface="Arial"/>
                <a:cs typeface="Arial"/>
              </a:rPr>
              <a:t>Próxima decisão</a:t>
            </a:r>
          </a:p>
        </p:txBody>
      </p:sp>
      <p:sp>
        <p:nvSpPr>
          <p:cNvPr id="14" name="text-72-516">
            <a:extLst xmlns:a="http://schemas.openxmlformats.org/drawingml/2006/main">
              <a:ext uri="{FF2B5EF4-FFF2-40B4-BE49-F238E27FC236}">
                <a16:creationId xmlns:a16="http://schemas.microsoft.com/office/drawing/2014/main" id="{9AEF8279-C5E9-44F5-B044-3436087DB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1019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Arquivos locais preservam o contexto para a próxima decisão.</a:t>
            </a:r>
          </a:p>
        </p:txBody>
      </p:sp>
    </p:spTree>
    <p:extLst>
      <p:ext uri="{BB962C8B-B14F-4D97-AF65-F5344CB8AC3E}">
        <p14:creationId xmlns:p14="http://schemas.microsoft.com/office/powerpoint/2010/main" val="19250134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3">
            <a:extLst xmlns:a="http://schemas.openxmlformats.org/drawingml/2006/main">
              <a:ext uri="{FF2B5EF4-FFF2-40B4-BE49-F238E27FC236}">
                <a16:creationId xmlns:a16="http://schemas.microsoft.com/office/drawing/2014/main" id="{FB484664-6354-4517-A93E-FB01B548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63C"/>
                </a:solidFill>
                <a:latin typeface="Arial"/>
                <a:ea typeface="Arial"/>
                <a:cs typeface="Arial"/>
              </a:rPr>
              <a:t>Quem decide e quem executa</a:t>
            </a:r>
          </a:p>
        </p:txBody>
      </p:sp>
      <p:sp>
        <p:nvSpPr>
          <p:cNvPr id="2" name="page-3">
            <a:extLst xmlns:a="http://schemas.openxmlformats.org/drawingml/2006/main">
              <a:ext uri="{FF2B5EF4-FFF2-40B4-BE49-F238E27FC236}">
                <a16:creationId xmlns:a16="http://schemas.microsoft.com/office/drawing/2014/main" id="{DA0C2FF7-D23A-4CF6-B158-66E7F875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674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text-72-216">
            <a:extLst xmlns:a="http://schemas.openxmlformats.org/drawingml/2006/main">
              <a:ext uri="{FF2B5EF4-FFF2-40B4-BE49-F238E27FC236}">
                <a16:creationId xmlns:a16="http://schemas.microsoft.com/office/drawing/2014/main" id="{5EA96B03-9C19-4823-B6FB-43218B2B1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63C"/>
                </a:solidFill>
                <a:latin typeface="Arial"/>
                <a:ea typeface="Arial"/>
                <a:cs typeface="Arial"/>
              </a:rPr>
              <a:t>Você</a:t>
            </a:r>
          </a:p>
        </p:txBody>
      </p:sp>
      <p:sp>
        <p:nvSpPr>
          <p:cNvPr id="4" name="text-72-303">
            <a:extLst xmlns:a="http://schemas.openxmlformats.org/drawingml/2006/main">
              <a:ext uri="{FF2B5EF4-FFF2-40B4-BE49-F238E27FC236}">
                <a16:creationId xmlns:a16="http://schemas.microsoft.com/office/drawing/2014/main" id="{2E5093C9-5F24-47AE-8C44-6DA92A01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32194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63C"/>
                </a:solidFill>
                <a:latin typeface="Arial"/>
                <a:ea typeface="Arial"/>
                <a:cs typeface="Arial"/>
              </a:rPr>
              <a:t>Define a intenção</a:t>
            </a:r>
          </a:p>
          <a:p xmlns:a="http://schemas.openxmlformats.org/drawingml/2006/main">
            <a:pPr>
              <a:defRPr sz="2025" b="0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63C"/>
                </a:solidFill>
                <a:latin typeface="Arial"/>
                <a:ea typeface="Arial"/>
                <a:cs typeface="Arial"/>
              </a:rPr>
              <a:t>e aprova decisões materiais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DB9918-58EA-4AF9-8A3B-3598D135F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362200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B8D7D3"/>
            </a:solidFill>
          </a:ln>
        </p:spPr>
      </p:sp>
      <p:sp>
        <p:nvSpPr>
          <p:cNvPr id="6" name="text-463-216">
            <a:extLst xmlns:a="http://schemas.openxmlformats.org/drawingml/2006/main">
              <a:ext uri="{FF2B5EF4-FFF2-40B4-BE49-F238E27FC236}">
                <a16:creationId xmlns:a16="http://schemas.microsoft.com/office/drawing/2014/main" id="{D4A0BC09-E2BD-4F76-B9E9-2EC21577E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0574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4797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4797B"/>
                </a:solidFill>
                <a:latin typeface="Arial"/>
                <a:ea typeface="Arial"/>
                <a:cs typeface="Arial"/>
              </a:rPr>
              <a:t>Atena</a:t>
            </a:r>
          </a:p>
        </p:txBody>
      </p:sp>
      <p:sp>
        <p:nvSpPr>
          <p:cNvPr id="7" name="text-463-303">
            <a:extLst xmlns:a="http://schemas.openxmlformats.org/drawingml/2006/main">
              <a:ext uri="{FF2B5EF4-FFF2-40B4-BE49-F238E27FC236}">
                <a16:creationId xmlns:a16="http://schemas.microsoft.com/office/drawing/2014/main" id="{EC91F7E5-E6CC-4BBE-A884-66CF11590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886075"/>
            <a:ext cx="32194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63C"/>
                </a:solidFill>
                <a:latin typeface="Arial"/>
                <a:ea typeface="Arial"/>
                <a:cs typeface="Arial"/>
              </a:rPr>
              <a:t>Estrutura o trabalho</a:t>
            </a:r>
          </a:p>
          <a:p xmlns:a="http://schemas.openxmlformats.org/drawingml/2006/main">
            <a:pPr>
              <a:defRPr sz="2025" b="0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63C"/>
                </a:solidFill>
                <a:latin typeface="Arial"/>
                <a:ea typeface="Arial"/>
                <a:cs typeface="Arial"/>
              </a:rPr>
              <a:t>e acompanha o resultado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0F2FE0-C7A9-4CC6-84D3-D00127432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362200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B8D7D3"/>
            </a:solidFill>
          </a:ln>
        </p:spPr>
      </p:sp>
      <p:sp>
        <p:nvSpPr>
          <p:cNvPr id="9" name="text-854-216">
            <a:extLst xmlns:a="http://schemas.openxmlformats.org/drawingml/2006/main">
              <a:ext uri="{FF2B5EF4-FFF2-40B4-BE49-F238E27FC236}">
                <a16:creationId xmlns:a16="http://schemas.microsoft.com/office/drawing/2014/main" id="{5B08301E-C2F4-4946-B875-1558C3F8A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574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63C"/>
                </a:solidFill>
                <a:latin typeface="Arial"/>
                <a:ea typeface="Arial"/>
                <a:cs typeface="Arial"/>
              </a:rPr>
              <a:t>Ferramentas</a:t>
            </a:r>
          </a:p>
        </p:txBody>
      </p:sp>
      <p:sp>
        <p:nvSpPr>
          <p:cNvPr id="10" name="text-854-303">
            <a:extLst xmlns:a="http://schemas.openxmlformats.org/drawingml/2006/main">
              <a:ext uri="{FF2B5EF4-FFF2-40B4-BE49-F238E27FC236}">
                <a16:creationId xmlns:a16="http://schemas.microsoft.com/office/drawing/2014/main" id="{83E6E046-CBCB-4776-971E-E1E37CAC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86075"/>
            <a:ext cx="32194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63C"/>
                </a:solidFill>
                <a:latin typeface="Arial"/>
                <a:ea typeface="Arial"/>
                <a:cs typeface="Arial"/>
              </a:rPr>
              <a:t>Executam operações</a:t>
            </a:r>
          </a:p>
          <a:p xmlns:a="http://schemas.openxmlformats.org/drawingml/2006/main">
            <a:pPr>
              <a:defRPr sz="2025" b="0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63C"/>
                </a:solidFill>
                <a:latin typeface="Arial"/>
                <a:ea typeface="Arial"/>
                <a:cs typeface="Arial"/>
              </a:rPr>
              <a:t>e verificações delimitadas</a:t>
            </a:r>
          </a:p>
        </p:txBody>
      </p:sp>
      <p:sp>
        <p:nvSpPr>
          <p:cNvPr id="11" name="text-72-530">
            <a:extLst xmlns:a="http://schemas.openxmlformats.org/drawingml/2006/main">
              <a:ext uri="{FF2B5EF4-FFF2-40B4-BE49-F238E27FC236}">
                <a16:creationId xmlns:a16="http://schemas.microsoft.com/office/drawing/2014/main" id="{DF5B825E-DD82-43E0-AB96-04058473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O resultado volta ao usuário com evidência.</a:t>
            </a:r>
          </a:p>
        </p:txBody>
      </p:sp>
    </p:spTree>
    <p:extLst>
      <p:ext uri="{BB962C8B-B14F-4D97-AF65-F5344CB8AC3E}">
        <p14:creationId xmlns:p14="http://schemas.microsoft.com/office/powerpoint/2010/main" val="15789262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4">
            <a:extLst xmlns:a="http://schemas.openxmlformats.org/drawingml/2006/main">
              <a:ext uri="{FF2B5EF4-FFF2-40B4-BE49-F238E27FC236}">
                <a16:creationId xmlns:a16="http://schemas.microsoft.com/office/drawing/2014/main" id="{E2FFFE46-49B8-4868-9B72-C80E9309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63C"/>
                </a:solidFill>
                <a:latin typeface="Arial"/>
                <a:ea typeface="Arial"/>
                <a:cs typeface="Arial"/>
              </a:rPr>
              <a:t>A estrutura local do ADD</a:t>
            </a:r>
          </a:p>
        </p:txBody>
      </p:sp>
      <p:sp>
        <p:nvSpPr>
          <p:cNvPr id="2" name="page-4">
            <a:extLst xmlns:a="http://schemas.openxmlformats.org/drawingml/2006/main">
              <a:ext uri="{FF2B5EF4-FFF2-40B4-BE49-F238E27FC236}">
                <a16:creationId xmlns:a16="http://schemas.microsoft.com/office/drawing/2014/main" id="{615B28A9-6830-4109-BE1C-FDF3A854D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674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workspace-tree">
            <a:extLst xmlns:a="http://schemas.openxmlformats.org/drawingml/2006/main">
              <a:ext uri="{FF2B5EF4-FFF2-40B4-BE49-F238E27FC236}">
                <a16:creationId xmlns:a16="http://schemas.microsoft.com/office/drawing/2014/main" id="{5E252426-8CC4-49F0-BC19-363DAB3A8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4667250" cy="421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263C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14263C"/>
                </a:solidFill>
                <a:latin typeface="Consolas"/>
                <a:ea typeface="Consolas"/>
                <a:cs typeface="Consolas"/>
              </a:rPr>
              <a:t>.atena/</a:t>
            </a:r>
          </a:p>
          <a:p xmlns:a="http://schemas.openxmlformats.org/drawingml/2006/main">
            <a:pPr>
              <a:defRPr sz="2250" b="0">
                <a:solidFill>
                  <a:srgbClr val="14263C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14263C"/>
                </a:solidFill>
                <a:latin typeface="Consolas"/>
                <a:ea typeface="Consolas"/>
                <a:cs typeface="Consolas"/>
              </a:rPr>
              <a:t>  add.yaml</a:t>
            </a:r>
          </a:p>
          <a:p xmlns:a="http://schemas.openxmlformats.org/drawingml/2006/main">
            <a:pPr>
              <a:defRPr sz="2250" b="0">
                <a:solidFill>
                  <a:srgbClr val="14263C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14263C"/>
                </a:solidFill>
                <a:latin typeface="Consolas"/>
                <a:ea typeface="Consolas"/>
                <a:cs typeface="Consolas"/>
              </a:rPr>
              <a:t>  vault/</a:t>
            </a:r>
          </a:p>
          <a:p xmlns:a="http://schemas.openxmlformats.org/drawingml/2006/main">
            <a:pPr>
              <a:defRPr sz="2250" b="0">
                <a:solidFill>
                  <a:srgbClr val="14263C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14263C"/>
                </a:solidFill>
                <a:latin typeface="Consolas"/>
                <a:ea typeface="Consolas"/>
                <a:cs typeface="Consolas"/>
              </a:rPr>
              <a:t>    canon/</a:t>
            </a:r>
          </a:p>
          <a:p xmlns:a="http://schemas.openxmlformats.org/drawingml/2006/main">
            <a:pPr>
              <a:defRPr sz="2250" b="0">
                <a:solidFill>
                  <a:srgbClr val="14263C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14263C"/>
                </a:solidFill>
                <a:latin typeface="Consolas"/>
                <a:ea typeface="Consolas"/>
                <a:cs typeface="Consolas"/>
              </a:rPr>
              <a:t>    drafts/</a:t>
            </a:r>
          </a:p>
          <a:p xmlns:a="http://schemas.openxmlformats.org/drawingml/2006/main">
            <a:pPr>
              <a:defRPr sz="2250" b="0">
                <a:solidFill>
                  <a:srgbClr val="14263C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14263C"/>
                </a:solidFill>
                <a:latin typeface="Consolas"/>
                <a:ea typeface="Consolas"/>
                <a:cs typeface="Consolas"/>
              </a:rPr>
              <a:t>    research/</a:t>
            </a:r>
          </a:p>
          <a:p xmlns:a="http://schemas.openxmlformats.org/drawingml/2006/main">
            <a:pPr>
              <a:defRPr sz="2250" b="0">
                <a:solidFill>
                  <a:srgbClr val="14263C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14263C"/>
                </a:solidFill>
                <a:latin typeface="Consolas"/>
                <a:ea typeface="Consolas"/>
                <a:cs typeface="Consolas"/>
              </a:rPr>
              <a:t>  specs/</a:t>
            </a:r>
          </a:p>
          <a:p xmlns:a="http://schemas.openxmlformats.org/drawingml/2006/main">
            <a:pPr>
              <a:defRPr sz="2250" b="0">
                <a:solidFill>
                  <a:srgbClr val="14263C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14263C"/>
                </a:solidFill>
                <a:latin typeface="Consolas"/>
                <a:ea typeface="Consolas"/>
                <a:cs typeface="Consolas"/>
              </a:rPr>
              <a:t>  evidence/</a:t>
            </a:r>
          </a:p>
          <a:p xmlns:a="http://schemas.openxmlformats.org/drawingml/2006/main">
            <a:pPr>
              <a:defRPr sz="2250" b="0">
                <a:solidFill>
                  <a:srgbClr val="14263C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14263C"/>
                </a:solidFill>
                <a:latin typeface="Consolas"/>
                <a:ea typeface="Consolas"/>
                <a:cs typeface="Consolas"/>
              </a:rPr>
              <a:t>  generated/</a:t>
            </a:r>
          </a:p>
          <a:p xmlns:a="http://schemas.openxmlformats.org/drawingml/2006/main">
            <a:pPr>
              <a:defRPr sz="2250" b="0">
                <a:solidFill>
                  <a:srgbClr val="14263C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14263C"/>
                </a:solidFill>
                <a:latin typeface="Consolas"/>
                <a:ea typeface="Consolas"/>
                <a:cs typeface="Consolas"/>
              </a:rPr>
              <a:t>  state/plan.yaml</a:t>
            </a:r>
          </a:p>
        </p:txBody>
      </p:sp>
      <p:sp>
        <p:nvSpPr>
          <p:cNvPr id="4" name="text-670-207">
            <a:extLst xmlns:a="http://schemas.openxmlformats.org/drawingml/2006/main">
              <a:ext uri="{FF2B5EF4-FFF2-40B4-BE49-F238E27FC236}">
                <a16:creationId xmlns:a16="http://schemas.microsoft.com/office/drawing/2014/main" id="{E3C86A5C-8439-4071-8BA6-C9D81EF48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7167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479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4797B"/>
                </a:solidFill>
                <a:latin typeface="Arial"/>
                <a:ea typeface="Arial"/>
                <a:cs typeface="Arial"/>
              </a:rPr>
              <a:t>Intenção aprovada</a:t>
            </a:r>
          </a:p>
        </p:txBody>
      </p:sp>
      <p:sp>
        <p:nvSpPr>
          <p:cNvPr id="5" name="text-670-292">
            <a:extLst xmlns:a="http://schemas.openxmlformats.org/drawingml/2006/main">
              <a:ext uri="{FF2B5EF4-FFF2-40B4-BE49-F238E27FC236}">
                <a16:creationId xmlns:a16="http://schemas.microsoft.com/office/drawing/2014/main" id="{30938147-1986-459A-B938-5EB169FE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813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479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4797B"/>
                </a:solidFill>
                <a:latin typeface="Arial"/>
                <a:ea typeface="Arial"/>
                <a:cs typeface="Arial"/>
              </a:rPr>
              <a:t>Mudanças delimitadas</a:t>
            </a:r>
          </a:p>
        </p:txBody>
      </p:sp>
      <p:sp>
        <p:nvSpPr>
          <p:cNvPr id="6" name="text-670-377">
            <a:extLst xmlns:a="http://schemas.openxmlformats.org/drawingml/2006/main">
              <a:ext uri="{FF2B5EF4-FFF2-40B4-BE49-F238E27FC236}">
                <a16:creationId xmlns:a16="http://schemas.microsoft.com/office/drawing/2014/main" id="{154D436D-22F1-4072-BC32-50914682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909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479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4797B"/>
                </a:solidFill>
                <a:latin typeface="Arial"/>
                <a:ea typeface="Arial"/>
                <a:cs typeface="Arial"/>
              </a:rPr>
              <a:t>Observações e retomada</a:t>
            </a:r>
          </a:p>
        </p:txBody>
      </p:sp>
      <p:sp>
        <p:nvSpPr>
          <p:cNvPr id="7" name="text-670-508">
            <a:extLst xmlns:a="http://schemas.openxmlformats.org/drawingml/2006/main">
              <a:ext uri="{FF2B5EF4-FFF2-40B4-BE49-F238E27FC236}">
                <a16:creationId xmlns:a16="http://schemas.microsoft.com/office/drawing/2014/main" id="{236F19FD-54CB-4742-8FB1-0F0F4E20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38700"/>
            <a:ext cx="466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AGENTS.md carrega as instruções do projeto.</a:t>
            </a:r>
          </a:p>
        </p:txBody>
      </p:sp>
    </p:spTree>
    <p:extLst>
      <p:ext uri="{BB962C8B-B14F-4D97-AF65-F5344CB8AC3E}">
        <p14:creationId xmlns:p14="http://schemas.microsoft.com/office/powerpoint/2010/main" val="7633372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5">
            <a:extLst xmlns:a="http://schemas.openxmlformats.org/drawingml/2006/main">
              <a:ext uri="{FF2B5EF4-FFF2-40B4-BE49-F238E27FC236}">
                <a16:creationId xmlns:a16="http://schemas.microsoft.com/office/drawing/2014/main" id="{EA5BC4E3-981D-44A4-B755-2F5CC7391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63C"/>
                </a:solidFill>
                <a:latin typeface="Arial"/>
                <a:ea typeface="Arial"/>
                <a:cs typeface="Arial"/>
              </a:rPr>
              <a:t>Quando uma ideia vira CANON</a:t>
            </a:r>
          </a:p>
        </p:txBody>
      </p:sp>
      <p:sp>
        <p:nvSpPr>
          <p:cNvPr id="2" name="page-5">
            <a:extLst xmlns:a="http://schemas.openxmlformats.org/drawingml/2006/main">
              <a:ext uri="{FF2B5EF4-FFF2-40B4-BE49-F238E27FC236}">
                <a16:creationId xmlns:a16="http://schemas.microsoft.com/office/drawing/2014/main" id="{8F0DE88B-CCA9-400C-B9F0-E71E8672D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674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text-76-226">
            <a:extLst xmlns:a="http://schemas.openxmlformats.org/drawingml/2006/main">
              <a:ext uri="{FF2B5EF4-FFF2-40B4-BE49-F238E27FC236}">
                <a16:creationId xmlns:a16="http://schemas.microsoft.com/office/drawing/2014/main" id="{9BEF95D8-3278-41D3-A91B-2A9817FF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3429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B6754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B67545"/>
                </a:solidFill>
                <a:latin typeface="Arial"/>
                <a:ea typeface="Arial"/>
                <a:cs typeface="Arial"/>
              </a:rPr>
              <a:t>DRAFT</a:t>
            </a:r>
          </a:p>
        </p:txBody>
      </p:sp>
      <p:sp>
        <p:nvSpPr>
          <p:cNvPr id="4" name="text-76-288">
            <a:extLst xmlns:a="http://schemas.openxmlformats.org/drawingml/2006/main">
              <a:ext uri="{FF2B5EF4-FFF2-40B4-BE49-F238E27FC236}">
                <a16:creationId xmlns:a16="http://schemas.microsoft.com/office/drawing/2014/main" id="{58772DE6-37D3-4683-A4A2-15FD1281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4000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63C"/>
                </a:solidFill>
                <a:latin typeface="Arial"/>
                <a:ea typeface="Arial"/>
                <a:cs typeface="Arial"/>
              </a:rPr>
              <a:t>Proposta ou experiência</a:t>
            </a:r>
          </a:p>
          <a:p xmlns:a="http://schemas.openxmlformats.org/drawingml/2006/main">
            <a:pPr>
              <a:defRPr sz="2100" b="0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63C"/>
                </a:solidFill>
                <a:latin typeface="Arial"/>
                <a:ea typeface="Arial"/>
                <a:cs typeface="Arial"/>
              </a:rPr>
              <a:t>em revisão</a:t>
            </a:r>
          </a:p>
        </p:txBody>
      </p:sp>
      <p:sp>
        <p:nvSpPr>
          <p:cNvPr id="5" name="text-76-425">
            <a:extLst xmlns:a="http://schemas.openxmlformats.org/drawingml/2006/main">
              <a:ext uri="{FF2B5EF4-FFF2-40B4-BE49-F238E27FC236}">
                <a16:creationId xmlns:a16="http://schemas.microsoft.com/office/drawing/2014/main" id="{69F834AB-214B-432B-A1CB-AD4A7983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3429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797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797B"/>
                </a:solidFill>
                <a:latin typeface="Arial"/>
                <a:ea typeface="Arial"/>
                <a:cs typeface="Arial"/>
              </a:rPr>
              <a:t>CANON</a:t>
            </a:r>
          </a:p>
        </p:txBody>
      </p:sp>
      <p:sp>
        <p:nvSpPr>
          <p:cNvPr id="6" name="text-76-488">
            <a:extLst xmlns:a="http://schemas.openxmlformats.org/drawingml/2006/main">
              <a:ext uri="{FF2B5EF4-FFF2-40B4-BE49-F238E27FC236}">
                <a16:creationId xmlns:a16="http://schemas.microsoft.com/office/drawing/2014/main" id="{E70DC4DB-F9B1-4818-894E-ED60E9565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8200"/>
            <a:ext cx="4095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63C"/>
                </a:solidFill>
                <a:latin typeface="Arial"/>
                <a:ea typeface="Arial"/>
                <a:cs typeface="Arial"/>
              </a:rPr>
              <a:t>Intenção aprovada</a:t>
            </a:r>
          </a:p>
          <a:p xmlns:a="http://schemas.openxmlformats.org/drawingml/2006/main">
            <a:pPr>
              <a:defRPr sz="2100" b="0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63C"/>
                </a:solidFill>
                <a:latin typeface="Arial"/>
                <a:ea typeface="Arial"/>
                <a:cs typeface="Arial"/>
              </a:rPr>
              <a:t>com ID e revisão</a:t>
            </a:r>
          </a:p>
        </p:txBody>
      </p:sp>
      <p:sp>
        <p:nvSpPr>
          <p:cNvPr id="7" name="text-622-181">
            <a:extLst xmlns:a="http://schemas.openxmlformats.org/drawingml/2006/main">
              <a:ext uri="{FF2B5EF4-FFF2-40B4-BE49-F238E27FC236}">
                <a16:creationId xmlns:a16="http://schemas.microsoft.com/office/drawing/2014/main" id="{53B1DEDE-7A21-4E6E-B5FB-1471FB66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72402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26273"/>
                </a:solidFill>
                <a:latin typeface="Arial"/>
                <a:ea typeface="Arial"/>
                <a:cs typeface="Arial"/>
              </a:rPr>
              <a:t>Trecho real: DEC-001</a:t>
            </a:r>
          </a:p>
        </p:txBody>
      </p:sp>
      <p:sp>
        <p:nvSpPr>
          <p:cNvPr id="8" name="block-610-232">
            <a:extLst xmlns:a="http://schemas.openxmlformats.org/drawingml/2006/main">
              <a:ext uri="{FF2B5EF4-FFF2-40B4-BE49-F238E27FC236}">
                <a16:creationId xmlns:a16="http://schemas.microsoft.com/office/drawing/2014/main" id="{BBCA9516-2B82-4E7B-BCE6-01F5242A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09800"/>
            <a:ext cx="5410200" cy="3038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FEB"/>
          </a:solidFill>
          <a:ln xmlns:a="http://schemas.openxmlformats.org/drawingml/2006/main" w="0">
            <a:noFill/>
          </a:ln>
        </p:spPr>
      </p:sp>
      <p:sp>
        <p:nvSpPr>
          <p:cNvPr id="9" name="canon-excerpt">
            <a:extLst xmlns:a="http://schemas.openxmlformats.org/drawingml/2006/main">
              <a:ext uri="{FF2B5EF4-FFF2-40B4-BE49-F238E27FC236}">
                <a16:creationId xmlns:a16="http://schemas.microsoft.com/office/drawing/2014/main" id="{0651BE8D-752D-4472-A006-8A14E865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00300"/>
            <a:ext cx="4905375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63C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4263C"/>
                </a:solidFill>
                <a:latin typeface="Consolas"/>
                <a:ea typeface="Consolas"/>
                <a:cs typeface="Consolas"/>
              </a:rPr>
              <a:t>id: "DEC-001"</a:t>
            </a:r>
          </a:p>
          <a:p xmlns:a="http://schemas.openxmlformats.org/drawingml/2006/main">
            <a:pPr>
              <a:defRPr sz="1650" b="0">
                <a:solidFill>
                  <a:srgbClr val="14263C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4263C"/>
                </a:solidFill>
                <a:latin typeface="Consolas"/>
                <a:ea typeface="Consolas"/>
                <a:cs typeface="Consolas"/>
              </a:rPr>
              <a:t>type: "decision"</a:t>
            </a:r>
          </a:p>
          <a:p xmlns:a="http://schemas.openxmlformats.org/drawingml/2006/main">
            <a:pPr>
              <a:defRPr sz="1650" b="0">
                <a:solidFill>
                  <a:srgbClr val="14263C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4263C"/>
                </a:solidFill>
                <a:latin typeface="Consolas"/>
                <a:ea typeface="Consolas"/>
                <a:cs typeface="Consolas"/>
              </a:rPr>
              <a:t>status: "approved"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4263C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4263C"/>
                </a:solidFill>
                <a:latin typeface="Consolas"/>
                <a:ea typeface="Consolas"/>
                <a:cs typeface="Consolas"/>
              </a:rPr>
              <a:t>The project uses `.atena/`</a:t>
            </a:r>
          </a:p>
          <a:p xmlns:a="http://schemas.openxmlformats.org/drawingml/2006/main">
            <a:pPr>
              <a:defRPr sz="1650" b="0">
                <a:solidFill>
                  <a:srgbClr val="14263C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4263C"/>
                </a:solidFill>
                <a:latin typeface="Consolas"/>
                <a:ea typeface="Consolas"/>
                <a:cs typeface="Consolas"/>
              </a:rPr>
              <a:t>as its only canonical</a:t>
            </a:r>
          </a:p>
          <a:p xmlns:a="http://schemas.openxmlformats.org/drawingml/2006/main">
            <a:pPr>
              <a:defRPr sz="1650" b="0">
                <a:solidFill>
                  <a:srgbClr val="14263C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4263C"/>
                </a:solidFill>
                <a:latin typeface="Consolas"/>
                <a:ea typeface="Consolas"/>
                <a:cs typeface="Consolas"/>
              </a:rPr>
              <a:t>ADD workspace.</a:t>
            </a:r>
          </a:p>
        </p:txBody>
      </p:sp>
    </p:spTree>
    <p:extLst>
      <p:ext uri="{BB962C8B-B14F-4D97-AF65-F5344CB8AC3E}">
        <p14:creationId xmlns:p14="http://schemas.microsoft.com/office/powerpoint/2010/main" val="11141046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6">
            <a:extLst xmlns:a="http://schemas.openxmlformats.org/drawingml/2006/main">
              <a:ext uri="{FF2B5EF4-FFF2-40B4-BE49-F238E27FC236}">
                <a16:creationId xmlns:a16="http://schemas.microsoft.com/office/drawing/2014/main" id="{46A38D02-C949-4705-923A-ED6382CF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63C"/>
                </a:solidFill>
                <a:latin typeface="Arial"/>
                <a:ea typeface="Arial"/>
                <a:cs typeface="Arial"/>
              </a:rPr>
              <a:t>Dois caminhos para o mesmo pedido</a:t>
            </a:r>
          </a:p>
        </p:txBody>
      </p:sp>
      <p:sp>
        <p:nvSpPr>
          <p:cNvPr id="2" name="page-6">
            <a:extLst xmlns:a="http://schemas.openxmlformats.org/drawingml/2006/main">
              <a:ext uri="{FF2B5EF4-FFF2-40B4-BE49-F238E27FC236}">
                <a16:creationId xmlns:a16="http://schemas.microsoft.com/office/drawing/2014/main" id="{1CE202F6-3905-463D-8703-02A05F46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674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text-75-201">
            <a:extLst xmlns:a="http://schemas.openxmlformats.org/drawingml/2006/main">
              <a:ext uri="{FF2B5EF4-FFF2-40B4-BE49-F238E27FC236}">
                <a16:creationId xmlns:a16="http://schemas.microsoft.com/office/drawing/2014/main" id="{64351253-D933-49F9-B684-5070F837A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14525"/>
            <a:ext cx="438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4797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4797B"/>
                </a:solidFill>
                <a:latin typeface="Arial"/>
                <a:ea typeface="Arial"/>
                <a:cs typeface="Arial"/>
              </a:rPr>
              <a:t>Guided ADD</a:t>
            </a:r>
          </a:p>
        </p:txBody>
      </p:sp>
      <p:sp>
        <p:nvSpPr>
          <p:cNvPr id="4" name="text-75-271">
            <a:extLst xmlns:a="http://schemas.openxmlformats.org/drawingml/2006/main">
              <a:ext uri="{FF2B5EF4-FFF2-40B4-BE49-F238E27FC236}">
                <a16:creationId xmlns:a16="http://schemas.microsoft.com/office/drawing/2014/main" id="{3B34F790-E106-40C9-8F17-A030966B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81275"/>
            <a:ext cx="4524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63C"/>
                </a:solidFill>
                <a:latin typeface="Arial"/>
                <a:ea typeface="Arial"/>
                <a:cs typeface="Arial"/>
              </a:rPr>
              <a:t>“Atena, acrescente...”</a:t>
            </a:r>
          </a:p>
        </p:txBody>
      </p:sp>
      <p:sp>
        <p:nvSpPr>
          <p:cNvPr id="5" name="text-75-357">
            <a:extLst xmlns:a="http://schemas.openxmlformats.org/drawingml/2006/main">
              <a:ext uri="{FF2B5EF4-FFF2-40B4-BE49-F238E27FC236}">
                <a16:creationId xmlns:a16="http://schemas.microsoft.com/office/drawing/2014/main" id="{0E5A8951-1E5D-4BF1-BA0E-DC5DC0F89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00425"/>
            <a:ext cx="45529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63C"/>
                </a:solidFill>
                <a:latin typeface="Arial"/>
                <a:ea typeface="Arial"/>
                <a:cs typeface="Arial"/>
              </a:rPr>
              <a:t>Spec e plano antes</a:t>
            </a:r>
          </a:p>
          <a:p xmlns:a="http://schemas.openxmlformats.org/drawingml/2006/main">
            <a:pPr>
              <a:defRPr sz="2100" b="0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63C"/>
                </a:solidFill>
                <a:latin typeface="Arial"/>
                <a:ea typeface="Arial"/>
                <a:cs typeface="Arial"/>
              </a:rPr>
              <a:t>da implementação</a:t>
            </a:r>
          </a:p>
        </p:txBody>
      </p:sp>
      <p:sp>
        <p:nvSpPr>
          <p:cNvPr id="6" name="text-75-507">
            <a:extLst xmlns:a="http://schemas.openxmlformats.org/drawingml/2006/main">
              <a:ext uri="{FF2B5EF4-FFF2-40B4-BE49-F238E27FC236}">
                <a16:creationId xmlns:a16="http://schemas.microsoft.com/office/drawing/2014/main" id="{503F14A3-D031-43C1-9887-CBD8D6488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29175"/>
            <a:ext cx="4619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273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526273"/>
                </a:solidFill>
                <a:latin typeface="Consolas"/>
                <a:ea typeface="Consolas"/>
                <a:cs typeface="Consolas"/>
              </a:rPr>
              <a:t>origin: planned</a:t>
            </a:r>
          </a:p>
          <a:p xmlns:a="http://schemas.openxmlformats.org/drawingml/2006/main">
            <a:pPr>
              <a:defRPr sz="1500" b="0">
                <a:solidFill>
                  <a:srgbClr val="526273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526273"/>
                </a:solidFill>
                <a:latin typeface="Consolas"/>
                <a:ea typeface="Consolas"/>
                <a:cs typeface="Consolas"/>
              </a:rPr>
              <a:t>implementation_preceded_spec: false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511790-47D8-40C0-A69E-C5C783605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000250"/>
            <a:ext cx="0" cy="373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D7D3"/>
            </a:solidFill>
          </a:ln>
        </p:spPr>
      </p:sp>
      <p:sp>
        <p:nvSpPr>
          <p:cNvPr id="8" name="text-682-201">
            <a:extLst xmlns:a="http://schemas.openxmlformats.org/drawingml/2006/main">
              <a:ext uri="{FF2B5EF4-FFF2-40B4-BE49-F238E27FC236}">
                <a16:creationId xmlns:a16="http://schemas.microsoft.com/office/drawing/2014/main" id="{32109043-FE2B-4198-B3D9-039C3E5E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14525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B675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B67545"/>
                </a:solidFill>
                <a:latin typeface="Arial"/>
                <a:ea typeface="Arial"/>
                <a:cs typeface="Arial"/>
              </a:rPr>
              <a:t>Direct Execution</a:t>
            </a:r>
          </a:p>
        </p:txBody>
      </p:sp>
      <p:sp>
        <p:nvSpPr>
          <p:cNvPr id="9" name="text-682-271">
            <a:extLst xmlns:a="http://schemas.openxmlformats.org/drawingml/2006/main">
              <a:ext uri="{FF2B5EF4-FFF2-40B4-BE49-F238E27FC236}">
                <a16:creationId xmlns:a16="http://schemas.microsoft.com/office/drawing/2014/main" id="{086EEDA3-2DB7-41E9-9807-1B1265C0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81275"/>
            <a:ext cx="4524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63C"/>
                </a:solidFill>
                <a:latin typeface="Arial"/>
                <a:ea typeface="Arial"/>
                <a:cs typeface="Arial"/>
              </a:rPr>
              <a:t>“Acrescente...”</a:t>
            </a:r>
          </a:p>
        </p:txBody>
      </p:sp>
      <p:sp>
        <p:nvSpPr>
          <p:cNvPr id="10" name="text-682-357">
            <a:extLst xmlns:a="http://schemas.openxmlformats.org/drawingml/2006/main">
              <a:ext uri="{FF2B5EF4-FFF2-40B4-BE49-F238E27FC236}">
                <a16:creationId xmlns:a16="http://schemas.microsoft.com/office/drawing/2014/main" id="{2EA3FDB2-E1E3-4750-A427-FEE9C3D4E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00425"/>
            <a:ext cx="4572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63C"/>
                </a:solidFill>
                <a:latin typeface="Arial"/>
                <a:ea typeface="Arial"/>
                <a:cs typeface="Arial"/>
              </a:rPr>
              <a:t>Execução local seguida</a:t>
            </a:r>
          </a:p>
          <a:p xmlns:a="http://schemas.openxmlformats.org/drawingml/2006/main">
            <a:pPr>
              <a:defRPr sz="2100" b="0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63C"/>
                </a:solidFill>
                <a:latin typeface="Arial"/>
                <a:ea typeface="Arial"/>
                <a:cs typeface="Arial"/>
              </a:rPr>
              <a:t>de reconciliação proposta</a:t>
            </a:r>
          </a:p>
        </p:txBody>
      </p:sp>
      <p:sp>
        <p:nvSpPr>
          <p:cNvPr id="11" name="text-682-507">
            <a:extLst xmlns:a="http://schemas.openxmlformats.org/drawingml/2006/main">
              <a:ext uri="{FF2B5EF4-FFF2-40B4-BE49-F238E27FC236}">
                <a16:creationId xmlns:a16="http://schemas.microsoft.com/office/drawing/2014/main" id="{968BBDAA-E067-4EE9-B3E7-B3F42C963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29175"/>
            <a:ext cx="4619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273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526273"/>
                </a:solidFill>
                <a:latin typeface="Consolas"/>
                <a:ea typeface="Consolas"/>
                <a:cs typeface="Consolas"/>
              </a:rPr>
              <a:t>origin: post-hoc</a:t>
            </a:r>
          </a:p>
          <a:p xmlns:a="http://schemas.openxmlformats.org/drawingml/2006/main">
            <a:pPr>
              <a:defRPr sz="1500" b="0">
                <a:solidFill>
                  <a:srgbClr val="526273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526273"/>
                </a:solidFill>
                <a:latin typeface="Consolas"/>
                <a:ea typeface="Consolas"/>
                <a:cs typeface="Consolas"/>
              </a:rPr>
              <a:t>implementation_preceded_spec: true</a:t>
            </a:r>
          </a:p>
        </p:txBody>
      </p:sp>
    </p:spTree>
    <p:extLst>
      <p:ext uri="{BB962C8B-B14F-4D97-AF65-F5344CB8AC3E}">
        <p14:creationId xmlns:p14="http://schemas.microsoft.com/office/powerpoint/2010/main" val="4346017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7">
            <a:extLst xmlns:a="http://schemas.openxmlformats.org/drawingml/2006/main">
              <a:ext uri="{FF2B5EF4-FFF2-40B4-BE49-F238E27FC236}">
                <a16:creationId xmlns:a16="http://schemas.microsoft.com/office/drawing/2014/main" id="{20964BC2-2229-424C-ACF1-0F053712E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63C"/>
                </a:solidFill>
                <a:latin typeface="Arial"/>
                <a:ea typeface="Arial"/>
                <a:cs typeface="Arial"/>
              </a:rPr>
              <a:t>A mudança planejada em quatro arquivos</a:t>
            </a:r>
          </a:p>
        </p:txBody>
      </p:sp>
      <p:sp>
        <p:nvSpPr>
          <p:cNvPr id="2" name="page-7">
            <a:extLst xmlns:a="http://schemas.openxmlformats.org/drawingml/2006/main">
              <a:ext uri="{FF2B5EF4-FFF2-40B4-BE49-F238E27FC236}">
                <a16:creationId xmlns:a16="http://schemas.microsoft.com/office/drawing/2014/main" id="{573E00EB-2D39-4A23-A06F-46E13AF1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674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text-77-189">
            <a:extLst xmlns:a="http://schemas.openxmlformats.org/drawingml/2006/main">
              <a:ext uri="{FF2B5EF4-FFF2-40B4-BE49-F238E27FC236}">
                <a16:creationId xmlns:a16="http://schemas.microsoft.com/office/drawing/2014/main" id="{DFF0DEE9-6D26-4447-BF88-329D3716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00225"/>
            <a:ext cx="2628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4797B"/>
                </a:solidFill>
                <a:latin typeface="Consolas"/>
                <a:ea typeface="Consolas"/>
                <a:cs typeface="Consolas"/>
              </a:defRPr>
            </a:pPr>
            <a:r>
              <a:rPr sz="2175" b="1">
                <a:solidFill>
                  <a:srgbClr val="24797B"/>
                </a:solidFill>
                <a:latin typeface="Consolas"/>
                <a:ea typeface="Consolas"/>
                <a:cs typeface="Consolas"/>
              </a:rPr>
              <a:t>spec.md</a:t>
            </a:r>
          </a:p>
        </p:txBody>
      </p:sp>
      <p:sp>
        <p:nvSpPr>
          <p:cNvPr id="4" name="text-366-189">
            <a:extLst xmlns:a="http://schemas.openxmlformats.org/drawingml/2006/main">
              <a:ext uri="{FF2B5EF4-FFF2-40B4-BE49-F238E27FC236}">
                <a16:creationId xmlns:a16="http://schemas.microsoft.com/office/drawing/2014/main" id="{4C712B8E-505F-4986-8C7F-5AB77818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800225"/>
            <a:ext cx="7505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63C"/>
                </a:solidFill>
                <a:latin typeface="Arial"/>
                <a:ea typeface="Arial"/>
                <a:cs typeface="Arial"/>
              </a:rPr>
              <a:t>O que muda e como reconhecer o resultado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9A4C04-BA48-43E5-8567-8ABC43E9B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0267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D7D3"/>
            </a:solidFill>
          </a:ln>
        </p:spPr>
      </p:sp>
      <p:sp>
        <p:nvSpPr>
          <p:cNvPr id="6" name="text-77-273">
            <a:extLst xmlns:a="http://schemas.openxmlformats.org/drawingml/2006/main">
              <a:ext uri="{FF2B5EF4-FFF2-40B4-BE49-F238E27FC236}">
                <a16:creationId xmlns:a16="http://schemas.microsoft.com/office/drawing/2014/main" id="{EB643775-4C5F-4C59-A0A7-C7F1DE5B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600325"/>
            <a:ext cx="2628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4797B"/>
                </a:solidFill>
                <a:latin typeface="Consolas"/>
                <a:ea typeface="Consolas"/>
                <a:cs typeface="Consolas"/>
              </a:defRPr>
            </a:pPr>
            <a:r>
              <a:rPr sz="2175" b="1">
                <a:solidFill>
                  <a:srgbClr val="24797B"/>
                </a:solidFill>
                <a:latin typeface="Consolas"/>
                <a:ea typeface="Consolas"/>
                <a:cs typeface="Consolas"/>
              </a:rPr>
              <a:t>plan.md</a:t>
            </a:r>
          </a:p>
        </p:txBody>
      </p:sp>
      <p:sp>
        <p:nvSpPr>
          <p:cNvPr id="7" name="text-366-273">
            <a:extLst xmlns:a="http://schemas.openxmlformats.org/drawingml/2006/main">
              <a:ext uri="{FF2B5EF4-FFF2-40B4-BE49-F238E27FC236}">
                <a16:creationId xmlns:a16="http://schemas.microsoft.com/office/drawing/2014/main" id="{AD04069C-AFF8-4849-86EA-285DD74F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00325"/>
            <a:ext cx="7505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63C"/>
                </a:solidFill>
                <a:latin typeface="Arial"/>
                <a:ea typeface="Arial"/>
                <a:cs typeface="Arial"/>
              </a:rPr>
              <a:t>Etapas, checks, limites e recuperação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DFF48A-37B0-4411-8CD4-BABC62F62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10267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D7D3"/>
            </a:solidFill>
          </a:ln>
        </p:spPr>
      </p:sp>
      <p:sp>
        <p:nvSpPr>
          <p:cNvPr id="9" name="text-77-357">
            <a:extLst xmlns:a="http://schemas.openxmlformats.org/drawingml/2006/main">
              <a:ext uri="{FF2B5EF4-FFF2-40B4-BE49-F238E27FC236}">
                <a16:creationId xmlns:a16="http://schemas.microsoft.com/office/drawing/2014/main" id="{11185B37-BBC7-4668-BD02-888CB116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00425"/>
            <a:ext cx="2628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4797B"/>
                </a:solidFill>
                <a:latin typeface="Consolas"/>
                <a:ea typeface="Consolas"/>
                <a:cs typeface="Consolas"/>
              </a:defRPr>
            </a:pPr>
            <a:r>
              <a:rPr sz="2175" b="1">
                <a:solidFill>
                  <a:srgbClr val="24797B"/>
                </a:solidFill>
                <a:latin typeface="Consolas"/>
                <a:ea typeface="Consolas"/>
                <a:cs typeface="Consolas"/>
              </a:rPr>
              <a:t>tasks.md</a:t>
            </a:r>
          </a:p>
        </p:txBody>
      </p:sp>
      <p:sp>
        <p:nvSpPr>
          <p:cNvPr id="10" name="text-366-357">
            <a:extLst xmlns:a="http://schemas.openxmlformats.org/drawingml/2006/main">
              <a:ext uri="{FF2B5EF4-FFF2-40B4-BE49-F238E27FC236}">
                <a16:creationId xmlns:a16="http://schemas.microsoft.com/office/drawing/2014/main" id="{443A42AA-36C6-45D4-9DD5-105C88D7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400425"/>
            <a:ext cx="7505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63C"/>
                </a:solidFill>
                <a:latin typeface="Arial"/>
                <a:ea typeface="Arial"/>
                <a:cs typeface="Arial"/>
              </a:rPr>
              <a:t>Trabalho concreto e evidência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098D26-9DF2-45E8-84E5-65DF75FA5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10267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D7D3"/>
            </a:solidFill>
          </a:ln>
        </p:spPr>
      </p:sp>
      <p:sp>
        <p:nvSpPr>
          <p:cNvPr id="12" name="text-77-441">
            <a:extLst xmlns:a="http://schemas.openxmlformats.org/drawingml/2006/main">
              <a:ext uri="{FF2B5EF4-FFF2-40B4-BE49-F238E27FC236}">
                <a16:creationId xmlns:a16="http://schemas.microsoft.com/office/drawing/2014/main" id="{7E11D933-2032-4513-8837-F91E932B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00525"/>
            <a:ext cx="2628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4797B"/>
                </a:solidFill>
                <a:latin typeface="Consolas"/>
                <a:ea typeface="Consolas"/>
                <a:cs typeface="Consolas"/>
              </a:defRPr>
            </a:pPr>
            <a:r>
              <a:rPr sz="2175" b="1">
                <a:solidFill>
                  <a:srgbClr val="24797B"/>
                </a:solidFill>
                <a:latin typeface="Consolas"/>
                <a:ea typeface="Consolas"/>
                <a:cs typeface="Consolas"/>
              </a:rPr>
              <a:t>acceptance.md</a:t>
            </a:r>
          </a:p>
        </p:txBody>
      </p:sp>
      <p:sp>
        <p:nvSpPr>
          <p:cNvPr id="13" name="text-366-441">
            <a:extLst xmlns:a="http://schemas.openxmlformats.org/drawingml/2006/main">
              <a:ext uri="{FF2B5EF4-FFF2-40B4-BE49-F238E27FC236}">
                <a16:creationId xmlns:a16="http://schemas.microsoft.com/office/drawing/2014/main" id="{DFE76371-35B2-4F25-A453-CFA402BB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200525"/>
            <a:ext cx="7505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63C"/>
                </a:solidFill>
                <a:latin typeface="Arial"/>
                <a:ea typeface="Arial"/>
                <a:cs typeface="Arial"/>
              </a:rPr>
              <a:t>Critérios confrontados com o resultado</a:t>
            </a:r>
          </a:p>
        </p:txBody>
      </p:sp>
      <p:sp>
        <p:nvSpPr>
          <p:cNvPr id="14" name="text-78-558">
            <a:extLst xmlns:a="http://schemas.openxmlformats.org/drawingml/2006/main">
              <a:ext uri="{FF2B5EF4-FFF2-40B4-BE49-F238E27FC236}">
                <a16:creationId xmlns:a16="http://schemas.microsoft.com/office/drawing/2014/main" id="{D661794B-918B-4CA5-A19F-47281D97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BLOCKING: resolver     RESOLVABLE: decidir default     DEFERRED: deixar fora</a:t>
            </a:r>
          </a:p>
        </p:txBody>
      </p:sp>
    </p:spTree>
    <p:extLst>
      <p:ext uri="{BB962C8B-B14F-4D97-AF65-F5344CB8AC3E}">
        <p14:creationId xmlns:p14="http://schemas.microsoft.com/office/powerpoint/2010/main" val="1099278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8">
            <a:extLst xmlns:a="http://schemas.openxmlformats.org/drawingml/2006/main">
              <a:ext uri="{FF2B5EF4-FFF2-40B4-BE49-F238E27FC236}">
                <a16:creationId xmlns:a16="http://schemas.microsoft.com/office/drawing/2014/main" id="{D69FE17F-EAAD-48E3-B3B5-5BD6709B4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63C"/>
                </a:solidFill>
                <a:latin typeface="Arial"/>
                <a:ea typeface="Arial"/>
                <a:cs typeface="Arial"/>
              </a:rPr>
              <a:t>Execução com ponto de retorno</a:t>
            </a:r>
          </a:p>
        </p:txBody>
      </p:sp>
      <p:sp>
        <p:nvSpPr>
          <p:cNvPr id="2" name="page-8">
            <a:extLst xmlns:a="http://schemas.openxmlformats.org/drawingml/2006/main">
              <a:ext uri="{FF2B5EF4-FFF2-40B4-BE49-F238E27FC236}">
                <a16:creationId xmlns:a16="http://schemas.microsoft.com/office/drawing/2014/main" id="{8FE16372-A3CB-47EA-A090-4E23604AE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674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text-85-205">
            <a:extLst xmlns:a="http://schemas.openxmlformats.org/drawingml/2006/main">
              <a:ext uri="{FF2B5EF4-FFF2-40B4-BE49-F238E27FC236}">
                <a16:creationId xmlns:a16="http://schemas.microsoft.com/office/drawing/2014/main" id="{469E5376-88AD-4F22-90E3-32B1EC52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526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4797B"/>
                </a:solidFill>
                <a:latin typeface="Consolas"/>
                <a:ea typeface="Consolas"/>
                <a:cs typeface="Consolas"/>
              </a:defRPr>
            </a:pPr>
            <a:r>
              <a:rPr sz="2700" b="1">
                <a:solidFill>
                  <a:srgbClr val="24797B"/>
                </a:solidFill>
                <a:latin typeface="Consolas"/>
                <a:ea typeface="Consolas"/>
                <a:cs typeface="Consolas"/>
              </a:rPr>
              <a:t>S-001</a:t>
            </a:r>
          </a:p>
        </p:txBody>
      </p:sp>
      <p:sp>
        <p:nvSpPr>
          <p:cNvPr id="4" name="text-85-271">
            <a:extLst xmlns:a="http://schemas.openxmlformats.org/drawingml/2006/main">
              <a:ext uri="{FF2B5EF4-FFF2-40B4-BE49-F238E27FC236}">
                <a16:creationId xmlns:a16="http://schemas.microsoft.com/office/drawing/2014/main" id="{5AE266EC-9E2B-4A57-895F-898720CF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812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63C"/>
                </a:solidFill>
                <a:latin typeface="Arial"/>
                <a:ea typeface="Arial"/>
                <a:cs typeface="Arial"/>
              </a:rPr>
              <a:t>Preparar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403714-4CF9-45AB-9BE2-A510F993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257425"/>
            <a:ext cx="790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B8D7D3"/>
            </a:solidFill>
          </a:ln>
        </p:spPr>
      </p:sp>
      <p:sp>
        <p:nvSpPr>
          <p:cNvPr id="6" name="text-465-205">
            <a:extLst xmlns:a="http://schemas.openxmlformats.org/drawingml/2006/main">
              <a:ext uri="{FF2B5EF4-FFF2-40B4-BE49-F238E27FC236}">
                <a16:creationId xmlns:a16="http://schemas.microsoft.com/office/drawing/2014/main" id="{3A047773-9706-44BE-BBF0-1502BD71B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526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4797B"/>
                </a:solidFill>
                <a:latin typeface="Consolas"/>
                <a:ea typeface="Consolas"/>
                <a:cs typeface="Consolas"/>
              </a:defRPr>
            </a:pPr>
            <a:r>
              <a:rPr sz="2700" b="1">
                <a:solidFill>
                  <a:srgbClr val="24797B"/>
                </a:solidFill>
                <a:latin typeface="Consolas"/>
                <a:ea typeface="Consolas"/>
                <a:cs typeface="Consolas"/>
              </a:rPr>
              <a:t>S-002</a:t>
            </a:r>
          </a:p>
        </p:txBody>
      </p:sp>
      <p:sp>
        <p:nvSpPr>
          <p:cNvPr id="7" name="text-465-271">
            <a:extLst xmlns:a="http://schemas.openxmlformats.org/drawingml/2006/main">
              <a:ext uri="{FF2B5EF4-FFF2-40B4-BE49-F238E27FC236}">
                <a16:creationId xmlns:a16="http://schemas.microsoft.com/office/drawing/2014/main" id="{D5214849-6E6E-46B8-ADD6-E7E467DEB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5812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63C"/>
                </a:solidFill>
                <a:latin typeface="Arial"/>
                <a:ea typeface="Arial"/>
                <a:cs typeface="Arial"/>
              </a:rPr>
              <a:t>Executar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11D670-28B8-4A60-87B8-1F3114D3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257425"/>
            <a:ext cx="790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B8D7D3"/>
            </a:solidFill>
          </a:ln>
        </p:spPr>
      </p:sp>
      <p:sp>
        <p:nvSpPr>
          <p:cNvPr id="9" name="text-845-205">
            <a:extLst xmlns:a="http://schemas.openxmlformats.org/drawingml/2006/main">
              <a:ext uri="{FF2B5EF4-FFF2-40B4-BE49-F238E27FC236}">
                <a16:creationId xmlns:a16="http://schemas.microsoft.com/office/drawing/2014/main" id="{8A283FEB-93CD-42F7-B90F-66869D18E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9526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4797B"/>
                </a:solidFill>
                <a:latin typeface="Consolas"/>
                <a:ea typeface="Consolas"/>
                <a:cs typeface="Consolas"/>
              </a:defRPr>
            </a:pPr>
            <a:r>
              <a:rPr sz="2700" b="1">
                <a:solidFill>
                  <a:srgbClr val="24797B"/>
                </a:solidFill>
                <a:latin typeface="Consolas"/>
                <a:ea typeface="Consolas"/>
                <a:cs typeface="Consolas"/>
              </a:rPr>
              <a:t>S-003</a:t>
            </a:r>
          </a:p>
        </p:txBody>
      </p:sp>
      <p:sp>
        <p:nvSpPr>
          <p:cNvPr id="10" name="text-845-271">
            <a:extLst xmlns:a="http://schemas.openxmlformats.org/drawingml/2006/main">
              <a:ext uri="{FF2B5EF4-FFF2-40B4-BE49-F238E27FC236}">
                <a16:creationId xmlns:a16="http://schemas.microsoft.com/office/drawing/2014/main" id="{5F20FC95-1E61-42B4-86FE-D74B0258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5812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63C"/>
                </a:solidFill>
                <a:latin typeface="Arial"/>
                <a:ea typeface="Arial"/>
                <a:cs typeface="Arial"/>
              </a:rPr>
              <a:t>Verificar</a:t>
            </a:r>
          </a:p>
        </p:txBody>
      </p:sp>
      <p:sp>
        <p:nvSpPr>
          <p:cNvPr id="11" name="text-85-410">
            <a:extLst xmlns:a="http://schemas.openxmlformats.org/drawingml/2006/main">
              <a:ext uri="{FF2B5EF4-FFF2-40B4-BE49-F238E27FC236}">
                <a16:creationId xmlns:a16="http://schemas.microsoft.com/office/drawing/2014/main" id="{E1EB4891-A392-418B-9AC5-DD7B3F42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263C"/>
                </a:solidFill>
                <a:latin typeface="Consolas"/>
                <a:ea typeface="Consolas"/>
                <a:cs typeface="Consolas"/>
              </a:defRPr>
            </a:pPr>
            <a:r>
              <a:rPr sz="2175" b="1">
                <a:solidFill>
                  <a:srgbClr val="14263C"/>
                </a:solidFill>
                <a:latin typeface="Consolas"/>
                <a:ea typeface="Consolas"/>
                <a:cs typeface="Consolas"/>
              </a:rPr>
              <a:t>state/plan.yaml</a:t>
            </a:r>
          </a:p>
        </p:txBody>
      </p:sp>
      <p:sp>
        <p:nvSpPr>
          <p:cNvPr id="12" name="text-85-470">
            <a:extLst xmlns:a="http://schemas.openxmlformats.org/drawingml/2006/main">
              <a:ext uri="{FF2B5EF4-FFF2-40B4-BE49-F238E27FC236}">
                <a16:creationId xmlns:a16="http://schemas.microsoft.com/office/drawing/2014/main" id="{0566CB1B-A859-4635-AB03-68E40C7B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7675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Plano ativo, etapa atual, próxima etapa e checkpoint</a:t>
            </a:r>
          </a:p>
        </p:txBody>
      </p:sp>
      <p:sp>
        <p:nvSpPr>
          <p:cNvPr id="13" name="text-85-561">
            <a:extLst xmlns:a="http://schemas.openxmlformats.org/drawingml/2006/main">
              <a:ext uri="{FF2B5EF4-FFF2-40B4-BE49-F238E27FC236}">
                <a16:creationId xmlns:a16="http://schemas.microsoft.com/office/drawing/2014/main" id="{43B5E1DA-1505-4319-9E04-7662A5A0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43525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6754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67545"/>
                </a:solidFill>
                <a:latin typeface="Arial"/>
                <a:ea typeface="Arial"/>
                <a:cs typeface="Arial"/>
              </a:rPr>
              <a:t>Ações materiais exigem aprovação própria.</a:t>
            </a:r>
          </a:p>
        </p:txBody>
      </p:sp>
    </p:spTree>
    <p:extLst>
      <p:ext uri="{BB962C8B-B14F-4D97-AF65-F5344CB8AC3E}">
        <p14:creationId xmlns:p14="http://schemas.microsoft.com/office/powerpoint/2010/main" val="7872436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9">
            <a:extLst xmlns:a="http://schemas.openxmlformats.org/drawingml/2006/main">
              <a:ext uri="{FF2B5EF4-FFF2-40B4-BE49-F238E27FC236}">
                <a16:creationId xmlns:a16="http://schemas.microsoft.com/office/drawing/2014/main" id="{323535AB-4B62-41DD-B8CC-471675851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63C"/>
                </a:solidFill>
                <a:latin typeface="Arial"/>
                <a:ea typeface="Arial"/>
                <a:cs typeface="Arial"/>
              </a:rPr>
              <a:t>Evidência e reconciliação</a:t>
            </a:r>
          </a:p>
        </p:txBody>
      </p:sp>
      <p:sp>
        <p:nvSpPr>
          <p:cNvPr id="2" name="page-9">
            <a:extLst xmlns:a="http://schemas.openxmlformats.org/drawingml/2006/main">
              <a:ext uri="{FF2B5EF4-FFF2-40B4-BE49-F238E27FC236}">
                <a16:creationId xmlns:a16="http://schemas.microsoft.com/office/drawing/2014/main" id="{75BB5F91-0C9B-4826-9B06-9AF52D9B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674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text-78-196">
            <a:extLst xmlns:a="http://schemas.openxmlformats.org/drawingml/2006/main">
              <a:ext uri="{FF2B5EF4-FFF2-40B4-BE49-F238E27FC236}">
                <a16:creationId xmlns:a16="http://schemas.microsoft.com/office/drawing/2014/main" id="{43E77788-3EAF-4C64-8641-B6D128B5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669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4797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797B"/>
                </a:solidFill>
                <a:latin typeface="Arial"/>
                <a:ea typeface="Arial"/>
                <a:cs typeface="Arial"/>
              </a:rPr>
              <a:t>Critério</a:t>
            </a:r>
          </a:p>
        </p:txBody>
      </p:sp>
      <p:sp>
        <p:nvSpPr>
          <p:cNvPr id="4" name="text-364-196">
            <a:extLst xmlns:a="http://schemas.openxmlformats.org/drawingml/2006/main">
              <a:ext uri="{FF2B5EF4-FFF2-40B4-BE49-F238E27FC236}">
                <a16:creationId xmlns:a16="http://schemas.microsoft.com/office/drawing/2014/main" id="{741652DC-3F64-4341-A64A-C8B7D867E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669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4797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797B"/>
                </a:solidFill>
                <a:latin typeface="Arial"/>
                <a:ea typeface="Arial"/>
                <a:cs typeface="Arial"/>
              </a:rPr>
              <a:t>Verificação</a:t>
            </a:r>
          </a:p>
        </p:txBody>
      </p:sp>
      <p:sp>
        <p:nvSpPr>
          <p:cNvPr id="5" name="text-658-196">
            <a:extLst xmlns:a="http://schemas.openxmlformats.org/drawingml/2006/main">
              <a:ext uri="{FF2B5EF4-FFF2-40B4-BE49-F238E27FC236}">
                <a16:creationId xmlns:a16="http://schemas.microsoft.com/office/drawing/2014/main" id="{89403881-1F84-43F5-9E12-824688DB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669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4797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797B"/>
                </a:solidFill>
                <a:latin typeface="Arial"/>
                <a:ea typeface="Arial"/>
                <a:cs typeface="Arial"/>
              </a:rPr>
              <a:t>Evidência</a:t>
            </a:r>
          </a:p>
        </p:txBody>
      </p:sp>
      <p:sp>
        <p:nvSpPr>
          <p:cNvPr id="6" name="text-949-196">
            <a:extLst xmlns:a="http://schemas.openxmlformats.org/drawingml/2006/main">
              <a:ext uri="{FF2B5EF4-FFF2-40B4-BE49-F238E27FC236}">
                <a16:creationId xmlns:a16="http://schemas.microsoft.com/office/drawing/2014/main" id="{E2BDA85A-0131-4A98-9F70-0C506087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1866900"/>
            <a:ext cx="2809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4797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797B"/>
                </a:solidFill>
                <a:latin typeface="Arial"/>
                <a:ea typeface="Arial"/>
                <a:cs typeface="Arial"/>
              </a:rPr>
              <a:t>Reconciliação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E76C01-57AA-4A1C-9C84-592412D9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13360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D7D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CA92F3-4B8B-441E-B48A-30BC0674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133600"/>
            <a:ext cx="61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D7D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24D8BF-959E-47C6-98D6-5AD718A73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133600"/>
            <a:ext cx="60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D7D3"/>
            </a:solidFill>
          </a:ln>
        </p:spPr>
      </p:sp>
      <p:sp>
        <p:nvSpPr>
          <p:cNvPr id="10" name="text-80-316">
            <a:extLst xmlns:a="http://schemas.openxmlformats.org/drawingml/2006/main">
              <a:ext uri="{FF2B5EF4-FFF2-40B4-BE49-F238E27FC236}">
                <a16:creationId xmlns:a16="http://schemas.microsoft.com/office/drawing/2014/main" id="{D67FD60C-9F23-484E-AC9E-29DA38542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273"/>
                </a:solidFill>
                <a:latin typeface="Arial"/>
                <a:ea typeface="Arial"/>
                <a:cs typeface="Arial"/>
              </a:rPr>
              <a:t>Trecho real: SPEC-001</a:t>
            </a:r>
          </a:p>
        </p:txBody>
      </p:sp>
      <p:sp>
        <p:nvSpPr>
          <p:cNvPr id="11" name="block-76-360">
            <a:extLst xmlns:a="http://schemas.openxmlformats.org/drawingml/2006/main">
              <a:ext uri="{FF2B5EF4-FFF2-40B4-BE49-F238E27FC236}">
                <a16:creationId xmlns:a16="http://schemas.microsoft.com/office/drawing/2014/main" id="{94E4EDEF-00F1-4BB2-99B3-D866DCF7D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1026795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FEB"/>
          </a:solidFill>
          <a:ln xmlns:a="http://schemas.openxmlformats.org/drawingml/2006/main" w="0">
            <a:noFill/>
          </a:ln>
        </p:spPr>
      </p:sp>
      <p:sp>
        <p:nvSpPr>
          <p:cNvPr id="12" name="evidence-excerpt">
            <a:extLst xmlns:a="http://schemas.openxmlformats.org/drawingml/2006/main">
              <a:ext uri="{FF2B5EF4-FFF2-40B4-BE49-F238E27FC236}">
                <a16:creationId xmlns:a16="http://schemas.microsoft.com/office/drawing/2014/main" id="{2E285F5B-0C33-4095-BA05-AAB932E1C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48075"/>
            <a:ext cx="9667875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63C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4263C"/>
                </a:solidFill>
                <a:latin typeface="Consolas"/>
                <a:ea typeface="Consolas"/>
                <a:cs typeface="Consolas"/>
              </a:rPr>
              <a:t>AC-1 | Workspace path is `.atena/` | pass</a:t>
            </a:r>
          </a:p>
          <a:p xmlns:a="http://schemas.openxmlformats.org/drawingml/2006/main">
            <a:pPr>
              <a:defRPr sz="1650" b="0">
                <a:solidFill>
                  <a:srgbClr val="14263C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4263C"/>
                </a:solidFill>
                <a:latin typeface="Consolas"/>
                <a:ea typeface="Consolas"/>
                <a:cs typeface="Consolas"/>
              </a:rPr>
              <a:t>AC-2 | Both interaction modes are named | pass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4263C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4263C"/>
                </a:solidFill>
                <a:latin typeface="Consolas"/>
                <a:ea typeface="Consolas"/>
                <a:cs typeface="Consolas"/>
              </a:rPr>
              <a:t>PROJECT-STATUS.md contains `.atena/`,</a:t>
            </a:r>
          </a:p>
          <a:p xmlns:a="http://schemas.openxmlformats.org/drawingml/2006/main">
            <a:pPr>
              <a:defRPr sz="1650" b="0">
                <a:solidFill>
                  <a:srgbClr val="14263C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4263C"/>
                </a:solidFill>
                <a:latin typeface="Consolas"/>
                <a:ea typeface="Consolas"/>
                <a:cs typeface="Consolas"/>
              </a:rPr>
              <a:t>`Guided ADD`, and `Direct Execution`.</a:t>
            </a:r>
          </a:p>
        </p:txBody>
      </p:sp>
      <p:sp>
        <p:nvSpPr>
          <p:cNvPr id="13" name="text-78-597">
            <a:extLst xmlns:a="http://schemas.openxmlformats.org/drawingml/2006/main">
              <a:ext uri="{FF2B5EF4-FFF2-40B4-BE49-F238E27FC236}">
                <a16:creationId xmlns:a16="http://schemas.microsoft.com/office/drawing/2014/main" id="{55E4F797-DD07-412A-B82A-87058940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86425"/>
            <a:ext cx="1019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B6754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67545"/>
                </a:solidFill>
                <a:latin typeface="Arial"/>
                <a:ea typeface="Arial"/>
                <a:cs typeface="Arial"/>
              </a:rPr>
              <a:t>O que prova que o pedido foi atendido?</a:t>
            </a:r>
          </a:p>
        </p:txBody>
      </p:sp>
    </p:spTree>
    <p:extLst>
      <p:ext uri="{BB962C8B-B14F-4D97-AF65-F5344CB8AC3E}">
        <p14:creationId xmlns:p14="http://schemas.microsoft.com/office/powerpoint/2010/main" val="283269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10">
            <a:extLst xmlns:a="http://schemas.openxmlformats.org/drawingml/2006/main">
              <a:ext uri="{FF2B5EF4-FFF2-40B4-BE49-F238E27FC236}">
                <a16:creationId xmlns:a16="http://schemas.microsoft.com/office/drawing/2014/main" id="{F70E2AC8-0E24-4DB7-AB66-869DC53EB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4263C"/>
                </a:solidFill>
                <a:latin typeface="Arial"/>
                <a:ea typeface="Arial"/>
                <a:cs typeface="Arial"/>
              </a:rPr>
              <a:t>Aplicações e primeiro uso</a:t>
            </a:r>
          </a:p>
        </p:txBody>
      </p:sp>
      <p:sp>
        <p:nvSpPr>
          <p:cNvPr id="2" name="page-10">
            <a:extLst xmlns:a="http://schemas.openxmlformats.org/drawingml/2006/main">
              <a:ext uri="{FF2B5EF4-FFF2-40B4-BE49-F238E27FC236}">
                <a16:creationId xmlns:a16="http://schemas.microsoft.com/office/drawing/2014/main" id="{E13119DF-F260-475E-ABE7-2A719835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674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27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text-78-203">
            <a:extLst xmlns:a="http://schemas.openxmlformats.org/drawingml/2006/main">
              <a:ext uri="{FF2B5EF4-FFF2-40B4-BE49-F238E27FC236}">
                <a16:creationId xmlns:a16="http://schemas.microsoft.com/office/drawing/2014/main" id="{776333D1-B0B2-4A8F-8BF7-C89F4AF8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33575"/>
            <a:ext cx="10287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4797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4797B"/>
                </a:solidFill>
                <a:latin typeface="Arial"/>
                <a:ea typeface="Arial"/>
                <a:cs typeface="Arial"/>
              </a:rPr>
              <a:t>ADD em projetos diferentes</a:t>
            </a:r>
          </a:p>
        </p:txBody>
      </p:sp>
      <p:sp>
        <p:nvSpPr>
          <p:cNvPr id="4" name="text-78-286">
            <a:extLst xmlns:a="http://schemas.openxmlformats.org/drawingml/2006/main">
              <a:ext uri="{FF2B5EF4-FFF2-40B4-BE49-F238E27FC236}">
                <a16:creationId xmlns:a16="http://schemas.microsoft.com/office/drawing/2014/main" id="{F49A2051-E014-4988-8481-1EEB26CD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63C"/>
                </a:solidFill>
                <a:latin typeface="Arial"/>
                <a:ea typeface="Arial"/>
                <a:cs typeface="Arial"/>
              </a:rPr>
              <a:t>Jogos: visão, bíblia visual, protótipo e playtest</a:t>
            </a:r>
          </a:p>
        </p:txBody>
      </p:sp>
      <p:sp>
        <p:nvSpPr>
          <p:cNvPr id="5" name="text-78-379">
            <a:extLst xmlns:a="http://schemas.openxmlformats.org/drawingml/2006/main">
              <a:ext uri="{FF2B5EF4-FFF2-40B4-BE49-F238E27FC236}">
                <a16:creationId xmlns:a16="http://schemas.microsoft.com/office/drawing/2014/main" id="{AE04C76C-5884-47A7-88F8-4BD912C6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9975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63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63C"/>
                </a:solidFill>
                <a:latin typeface="Arial"/>
                <a:ea typeface="Arial"/>
                <a:cs typeface="Arial"/>
              </a:rPr>
              <a:t>Skills e agentes entram por necessidade concreta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D3B551-43A4-4A41-A26A-0A6719ED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48200"/>
            <a:ext cx="10048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D7D3"/>
            </a:solidFill>
          </a:ln>
        </p:spPr>
      </p:sp>
      <p:sp>
        <p:nvSpPr>
          <p:cNvPr id="7" name="text-78-530">
            <a:extLst xmlns:a="http://schemas.openxmlformats.org/drawingml/2006/main">
              <a:ext uri="{FF2B5EF4-FFF2-40B4-BE49-F238E27FC236}">
                <a16:creationId xmlns:a16="http://schemas.microsoft.com/office/drawing/2014/main" id="{C1A6E312-9D83-4118-9A37-EDD34FCC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6754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67545"/>
                </a:solidFill>
                <a:latin typeface="Arial"/>
                <a:ea typeface="Arial"/>
                <a:cs typeface="Arial"/>
              </a:rPr>
              <a:t>Comece com um pedido pequeno e uma evidência clara.</a:t>
            </a:r>
          </a:p>
        </p:txBody>
      </p:sp>
    </p:spTree>
    <p:extLst>
      <p:ext uri="{BB962C8B-B14F-4D97-AF65-F5344CB8AC3E}">
        <p14:creationId xmlns:p14="http://schemas.microsoft.com/office/powerpoint/2010/main" val="16311133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2026-10-07T18:39:51.6780000Z</dcterms:created>
  <dcterms:modified xsi:type="dcterms:W3CDTF">2026-10-07T18:39:51.6780000Z</dcterms:modified>
</coreProperties>
</file>