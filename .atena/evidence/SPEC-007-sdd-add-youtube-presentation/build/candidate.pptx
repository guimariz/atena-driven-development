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d575e32a5c4898" /><Relationship Type="http://schemas.openxmlformats.org/officeDocument/2006/relationships/extended-properties" Target="/docProps/app.xml" Id="R52597ff7b4784c08" /><Relationship Type="http://schemas.openxmlformats.org/officeDocument/2006/relationships/officeDocument" Target="/ppt/presentation.xml" Id="R049adfe3db82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c829d65bf84945"/>
  </p:sldMasterIdLst>
  <p:notesMasterIdLst>
    <p:notesMasterId xmlns:r="http://schemas.openxmlformats.org/officeDocument/2006/relationships" r:id="R5735f8c4ad8b4f50"/>
  </p:notesMasterIdLst>
  <p:sldIdLst>
    <p:sldId xmlns:r="http://schemas.openxmlformats.org/officeDocument/2006/relationships" id="256" r:id="R2e360f28f77144c3"/>
    <p:sldId xmlns:r="http://schemas.openxmlformats.org/officeDocument/2006/relationships" id="257" r:id="R13beeba9380d4128"/>
    <p:sldId xmlns:r="http://schemas.openxmlformats.org/officeDocument/2006/relationships" id="258" r:id="R8311e1a8e8de43c7"/>
    <p:sldId xmlns:r="http://schemas.openxmlformats.org/officeDocument/2006/relationships" id="259" r:id="Rfacd33566bf648cd"/>
    <p:sldId xmlns:r="http://schemas.openxmlformats.org/officeDocument/2006/relationships" id="260" r:id="Rf3cb03c8eb384df1"/>
    <p:sldId xmlns:r="http://schemas.openxmlformats.org/officeDocument/2006/relationships" id="261" r:id="R4cf4dbb27994401e"/>
    <p:sldId xmlns:r="http://schemas.openxmlformats.org/officeDocument/2006/relationships" id="262" r:id="Rdda4e673fe864b46"/>
    <p:sldId xmlns:r="http://schemas.openxmlformats.org/officeDocument/2006/relationships" id="263" r:id="Rbe3c5aa42e9c4e7b"/>
    <p:sldId xmlns:r="http://schemas.openxmlformats.org/officeDocument/2006/relationships" id="264" r:id="R328c4c91b5eb4d82"/>
    <p:sldId xmlns:r="http://schemas.openxmlformats.org/officeDocument/2006/relationships" id="265" r:id="Rd88d3f0c4b3940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dbdf4e12744fd" /><Relationship Type="http://schemas.openxmlformats.org/officeDocument/2006/relationships/slideMaster" Target="/ppt/slideMasters/slideMaster1.xml" Id="R7dc829d65bf84945" /><Relationship Type="http://schemas.openxmlformats.org/officeDocument/2006/relationships/notesMaster" Target="/ppt/notesMasters/notesMaster1.xml" Id="R5735f8c4ad8b4f50" /><Relationship Type="http://schemas.openxmlformats.org/officeDocument/2006/relationships/presProps" Target="/ppt/presProps.xml" Id="R3a4a5676be7c4f38" /><Relationship Type="http://schemas.openxmlformats.org/officeDocument/2006/relationships/tableStyles" Target="/ppt/tableStyles.xml" Id="Rffc765a0ac49490a" /><Relationship Type="http://schemas.openxmlformats.org/officeDocument/2006/relationships/slide" Target="/ppt/slides/slide1.xml" Id="R2e360f28f77144c3" /><Relationship Type="http://schemas.openxmlformats.org/officeDocument/2006/relationships/slide" Target="/ppt/slides/slide2.xml" Id="R13beeba9380d4128" /><Relationship Type="http://schemas.openxmlformats.org/officeDocument/2006/relationships/slide" Target="/ppt/slides/slide3.xml" Id="R8311e1a8e8de43c7" /><Relationship Type="http://schemas.openxmlformats.org/officeDocument/2006/relationships/slide" Target="/ppt/slides/slide4.xml" Id="Rfacd33566bf648cd" /><Relationship Type="http://schemas.openxmlformats.org/officeDocument/2006/relationships/slide" Target="/ppt/slides/slide5.xml" Id="Rf3cb03c8eb384df1" /><Relationship Type="http://schemas.openxmlformats.org/officeDocument/2006/relationships/slide" Target="/ppt/slides/slide6.xml" Id="R4cf4dbb27994401e" /><Relationship Type="http://schemas.openxmlformats.org/officeDocument/2006/relationships/slide" Target="/ppt/slides/slide7.xml" Id="Rdda4e673fe864b46" /><Relationship Type="http://schemas.openxmlformats.org/officeDocument/2006/relationships/slide" Target="/ppt/slides/slide8.xml" Id="Rbe3c5aa42e9c4e7b" /><Relationship Type="http://schemas.openxmlformats.org/officeDocument/2006/relationships/slide" Target="/ppt/slides/slide9.xml" Id="R328c4c91b5eb4d82" /><Relationship Type="http://schemas.openxmlformats.org/officeDocument/2006/relationships/slide" Target="/ppt/slides/slide10.xml" Id="Rd88d3f0c4b3940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4b98cfa23d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1db2e9debc4895" /><Relationship Type="http://schemas.openxmlformats.org/officeDocument/2006/relationships/notesMaster" Target="/ppt/notesMasters/notesMaster1.xml" Id="R8ca9e1a6a26840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e4cd71d64f4e67" /><Relationship Type="http://schemas.openxmlformats.org/officeDocument/2006/relationships/notesMaster" Target="/ppt/notesMasters/notesMaster1.xml" Id="R21eccee3be8949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f092f168fb43ad" /><Relationship Type="http://schemas.openxmlformats.org/officeDocument/2006/relationships/notesMaster" Target="/ppt/notesMasters/notesMaster1.xml" Id="Rcf5dcb2371f043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1ac67aa6d44c98" /><Relationship Type="http://schemas.openxmlformats.org/officeDocument/2006/relationships/notesMaster" Target="/ppt/notesMasters/notesMaster1.xml" Id="R09d2b6fc1d2149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dfd987c8a74b7e" /><Relationship Type="http://schemas.openxmlformats.org/officeDocument/2006/relationships/notesMaster" Target="/ppt/notesMasters/notesMaster1.xml" Id="R0cde52488718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408973f5274a42" /><Relationship Type="http://schemas.openxmlformats.org/officeDocument/2006/relationships/notesMaster" Target="/ppt/notesMasters/notesMaster1.xml" Id="Rb84fa8333c4d46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adf65b16a945ed" /><Relationship Type="http://schemas.openxmlformats.org/officeDocument/2006/relationships/notesMaster" Target="/ppt/notesMasters/notesMaster1.xml" Id="Rc098e765983e44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0672ef59ad4ddb" /><Relationship Type="http://schemas.openxmlformats.org/officeDocument/2006/relationships/notesMaster" Target="/ppt/notesMasters/notesMaster1.xml" Id="R41a25aad67fc45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15f9349ba243b6" /><Relationship Type="http://schemas.openxmlformats.org/officeDocument/2006/relationships/notesMaster" Target="/ppt/notesMasters/notesMaster1.xml" Id="R94d4bfb626f94d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7f58d3bdad491f" /><Relationship Type="http://schemas.openxmlformats.org/officeDocument/2006/relationships/notesMaster" Target="/ppt/notesMasters/notesMaster1.xml" Id="R242304f5f925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acompanhar um pedido pequeno: acrescentar um resumo de status a um miniprojeto. A pergunta do vídeo é como sair da ideia e chegar a uma mudança que possamos conferir. Primeiro vou explicar Spec Driven Development; depois, o papel da Atena e dos arquivos locais do ADD. O exemplo foi preparado para esta gravação.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storyboard DRAFT revisão 2; ADD.md.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Spec Driven Development, ou SDD, organiza o trabalho a partir de uma especificação clara. A spec descreve o resultado desejado, o contexto, os limites e critérios observáveis. Só depois o plano decide como construir. As tarefas tornam esse plano executável; implementação e verificação confrontam o resultado com os critérios. Isso reduz decisões implícitas e torna o trabalho revisável. Não significa que uma spec garante qualidade sozinha. O GitHub Spec Kit é uma referência de ferramenta e fluxo de SDD, mas não é uma dependência da Atena nem define as regras do ADD.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https://github.com/github/spec-kit/blob/main/docs/concepts/sdd.md; https://github.github.com/spec-kit/reference/agentic-sdd.html.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 significa Atena Driven Development. É um método local, guiado pela pessoa dona do projeto. Atena consulta o que existe, propõe a menor mudança suficiente e conduz o trabalho dentro de um escopo aprovado. O vault conserva intenção durável; specs descrevem mudanças; evidência mostra o que realmente foi conferido. Há dois caminhos: ao dizer “Atena, ...”, você inicia Guided ADD com spec e plano antes da execução planejada. Um pedido imperativo direto pode seguir para trabalho local comum, seguido de uma reconciliação post-hoc fiel ao ocorrido. Os gates de ações materiais continuam nos dois caminhos. Hoje seguiremos o caminho guiado como narrativa didática.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ADD.md; INTERACTION.md; WORKFLOW.md; AUTONOMY.md.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Dentro de .atena, o vault tem três áreas com autoridades diferentes. canon guarda intenção aprovada, com ID, revisão e fontes; neste repositório há decisões reais DEC-001 e DEC-002. drafts guarda propostas, como o storyboard desta apresentação: ele está autorizado para produzir o vídeo, mas continua DRAFT. research guarda fontes, hipóteses e limites; uma pesquisa não vira regra sozinha. Uma promoção para CANON exige aprovação explícita do conteúdo e da revisão. Ao redor do vault, add.yaml configura o método; specs define mudanças; evidence guarda verificações; state/plan.yaml marca a retomada; generated recebe saídas derivadas. AGENTS.md, fora de .atena, carrega instruções locais. Mostrar rapidamente os diretórios reais do repositório e voltar ao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ADD.md; CONTRACT.md; POLICIES.md; .atena/vault/canon/DEC-001-game-guidance.md; .atena/vault/canon/DEC-002-visible-plan-and-visual-readiness.md; .atena/vault/drafts/apresentacao-sdd-add-youtube.md; .atena/vault/research/game-animation-sources-2026-10-07.md.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graph ajuda a enxergar relações entre registros com IDs estáveis. Aqui há uma relação real: DEC-002 declara vínculo com DEC-001 no seu campo relations. O desenho na tela representa esse vínculo; ele não é um arquivo exportado. A política do projeto prevê nós e ligações derivados de IDs e relações aprovados, para navegar dependências e detectar links problemáticos. Uma relação sugerida pela IA não vira CANON automaticamente. A configuração aponta para .atena/generated/graph.production.json, mas esse arquivo ainda não existe neste projeto e não encontramos um gerador de produção. Portanto, vamos mostrar o uso previsto e o vínculo existente sem afirmar que um graph operacional já foi produzido.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.atena/vault/canon/DEC-002-visible-plan-and-visual-readiness.md; .atena/add.yaml; POLICIES.md; .atena/evidence/SPEC-007-sdd-add-youtube-presentation/vault-graph-discovery.md.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1:45. Demonstração preparada.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pedido recomendado nomeia resultado, contexto e definição de pronto: “Atena, acrescente um resumo de status a este miniprojeto. Ele deve dizer onde fica .atena e explicar os dois modos. Não crie automação nem publique. Considere pronto quando esses fatos forem conferidos.” No projeto de demonstração, abra vault/drafts/REQ-001-resumo-de-status.md e specs/SPEC-001-status-summary/spec.md. A spec explicita objetivo, escopo, não objetivos e critérios. BLOCKING precisa de decisão antes da aprovação; RESOLVABLE recebe um default fundamentado; DEFERRED fica visível fora do escopo. Esta spec interna é DRAFT: o material foi produzido sob o PLAN-007 do projeto principal, sem fingir aprovação independente. O checkpoint que mostraremos é didático.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Arquivos: presentations/demo-add-status/.atena/vault/drafts/REQ-001-resumo-de-status.md; presentations/demo-add-status/.atena/specs/SPEC-001-status-summary/spec.md. Fontes de regra: INTERACTION.md; 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1:40. Demonstração preparada.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Abra o plan.md do miniprojeto. Ele divide o pedido em três etapas: olhar o estado anterior, criar o arquivo e conferir o resultado. A pessoa escolhe aprovação por plano, lote ou etapa para o escopo planejado. state/plan.yaml manteria plano, etapa atual, próxima e checkpoint enquanto um plano real estivesse ativo. Aqui o plano interno está DRAFT e unconfigured. Não vou chamá-lo de aprovado: a autorização real foi para preparar a demonstração no PLAN-007 do repositório principal. Em um projeto real, o usuário aprovaria o plano específico antes dessa execução guiada. Esse momento do fluxo é representado no slide, não falsificado nos arquivos. Mudanças em canon, dependências, segurança, dados sensíveis ou publicação têm gates independentes.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Arquivos: presentations/demo-add-status/.atena/specs/SPEC-001-status-summary/plan.md; presentations/demo-add-status/.atena/state/plan.yaml; .atena/specs/SPEC-007-sdd-add-youtube-presentation/plan.md. Fontes: INTERACTION.md; AUTONOMY.md; WORKFLOW.md.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2:00. Demonstração preparada.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Abra before.md: o resumo não existia quando o miniprojeto e seu contrato foram preparados. Abra PROJECT-STATUS.md: ele agora informa .atena, Guided ADD e Direct Execution. Abra evidence/SPEC-001-status-summary/result.md. O primeiro check encontrou que os nomes literais dos modos faltavam; o arquivo foi corrigido e a nova leitura passou. Também foi validado o estado ADD como idle e conferidos os links locais. Isso é um bom exemplo de por que evidência importa: um check pode revelar um erro pequeno antes da entrega. acceptance.md mostra os critérios documentais como pass, mas esses checks não provam compreensão do público nem aprovação própria do plano interno. A reconciliação registra o que mudou e o que continua 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Arquivos: presentations/demo-add-status/.atena/evidence/SPEC-001-status-summary/before.md; presentations/demo-add-status/PROJECT-STATUS.md; presentations/demo-add-status/.atena/evidence/SPEC-001-status-summary/result.md; presentations/demo-add-status/.atena/specs/SPEC-001-status-summary/acceptance.md.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Primeiro, comece pelo resultado, não por uma ferramenta: “quero um resumo que responda estas perguntas”. Segundo, entregue contexto e restrições: aponte os arquivos relevantes e diga o que não deve mudar. Terceiro, defina critérios observáveis, como o texto que precisa aparecer e a verificação que confirma. Quarto, reveja decisões e checkpoints: um draft não vira CANON por aparecer em um slide, e aprovação de plano vale para um escopo/revisão. Quinto, leia a evidência antes de chamar algo de pronto; um teste prova apenas o que mediu. Prefira pedidos pequenos e iteráveis. Se já tiver decisões tomadas, informe-as; se houver dúvidas, peça análise antes de compromisso.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de prompt: “Atena, acrescente um resumo de status. Use .atena como fonte, não crie automação nem publique. Considere pronto quando o arquivo existir e citar os dois modos; mostre a evidência.”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INTERACTION.md (práticas recomendadas); ADD.md; AUTONOMY.md; miniprojeto de demonstração.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SDD ajuda a transformar uma intenção em uma spec revisável antes de implementar. ADD usa esse caminho guiado com memória local, autoridade humana, plano ativo e evidência; também permite um caminho direto com reconciliação honesta depois. O vault guarda o que foi aprovado e o que ainda é proposta. As relações podem alimentar um graph derivado, mas o estado real do projeto precisa ser conferido. Para começar, escolha uma mudança pequena, diga o que conta como pronto e peça que a Atena mostre o resultado junto da evidência. A gravação, edição e publicação do vídeo são etapas posteriores da pessoa autora.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ADD.md; INTERACTION.md; POLICIES.md; storyboard DRAFT revisão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409c811f1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2209a8a854b44" /><Relationship Type="http://schemas.openxmlformats.org/officeDocument/2006/relationships/slideLayout" Target="/ppt/slideLayouts/slideLayout1.xml" Id="Raf6efda923ce41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6efda923ce41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74eb280114445" /><Relationship Type="http://schemas.openxmlformats.org/officeDocument/2006/relationships/notesSlide" Target="/ppt/notesSlides/notesSlide1.xml" Id="R67148046199e42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bbb73a6c54f27" /><Relationship Type="http://schemas.openxmlformats.org/officeDocument/2006/relationships/notesSlide" Target="/ppt/notesSlides/notesSlide2.xml" Id="R5393e16959ad41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df63093a84461" /><Relationship Type="http://schemas.openxmlformats.org/officeDocument/2006/relationships/notesSlide" Target="/ppt/notesSlides/notesSlide3.xml" Id="R266d625f6ed948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c12194c95457a" /><Relationship Type="http://schemas.openxmlformats.org/officeDocument/2006/relationships/notesSlide" Target="/ppt/notesSlides/notesSlide4.xml" Id="R40ef8f4e934e4a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01f3d94584b04" /><Relationship Type="http://schemas.openxmlformats.org/officeDocument/2006/relationships/notesSlide" Target="/ppt/notesSlides/notesSlide5.xml" Id="R56ea0c5ff2b848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b5d67d0bf4c04" /><Relationship Type="http://schemas.openxmlformats.org/officeDocument/2006/relationships/notesSlide" Target="/ppt/notesSlides/notesSlide6.xml" Id="R3bed26b307da47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7fc011e1e44fb" /><Relationship Type="http://schemas.openxmlformats.org/officeDocument/2006/relationships/notesSlide" Target="/ppt/notesSlides/notesSlide7.xml" Id="R513b50c0d6904a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e3cb5823346be" /><Relationship Type="http://schemas.openxmlformats.org/officeDocument/2006/relationships/notesSlide" Target="/ppt/notesSlides/notesSlide8.xml" Id="R8ef20ad0a50e4e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4486c119e4936" /><Relationship Type="http://schemas.openxmlformats.org/officeDocument/2006/relationships/notesSlide" Target="/ppt/notesSlides/notesSlide9.xml" Id="Rbbece6a078a64f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066428da144ae" /><Relationship Type="http://schemas.openxmlformats.org/officeDocument/2006/relationships/notesSlide" Target="/ppt/notesSlides/notesSlide10.xml" Id="R8108f69559104b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-76-172">
            <a:extLst xmlns:a="http://schemas.openxmlformats.org/drawingml/2006/main">
              <a:ext uri="{FF2B5EF4-FFF2-40B4-BE49-F238E27FC236}">
                <a16:creationId xmlns:a16="http://schemas.microsoft.com/office/drawing/2014/main" id="{1A0A41FD-6B02-454E-8662-1B1D72D0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SDD, Atena e ADD</a:t>
            </a:r>
          </a:p>
        </p:txBody>
      </p:sp>
      <p:sp>
        <p:nvSpPr>
          <p:cNvPr id="2" name="t-80-292">
            <a:extLst xmlns:a="http://schemas.openxmlformats.org/drawingml/2006/main">
              <a:ext uri="{FF2B5EF4-FFF2-40B4-BE49-F238E27FC236}">
                <a16:creationId xmlns:a16="http://schemas.microsoft.com/office/drawing/2014/main" id="{40BC6BBF-E35B-4BB1-B391-B9248709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334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D9E5E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D9E5E5"/>
                </a:solidFill>
                <a:latin typeface="Arial"/>
                <a:ea typeface="Arial"/>
                <a:cs typeface="Arial"/>
              </a:rPr>
              <a:t>Do pedido à evidência em um projeto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44A64-0BC0-4925-AC55-76DE3CB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F9FA0"/>
            </a:solidFill>
          </a:ln>
        </p:spPr>
      </p:sp>
      <p:sp>
        <p:nvSpPr>
          <p:cNvPr id="4" name="t-80-548">
            <a:extLst xmlns:a="http://schemas.openxmlformats.org/drawingml/2006/main">
              <a:ext uri="{FF2B5EF4-FFF2-40B4-BE49-F238E27FC236}">
                <a16:creationId xmlns:a16="http://schemas.microsoft.com/office/drawing/2014/main" id="{645DEBC6-1810-4310-B249-F19FAA8F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7D9D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7D9D9"/>
                </a:solidFill>
                <a:latin typeface="Arial"/>
                <a:ea typeface="Arial"/>
                <a:cs typeface="Arial"/>
              </a:rPr>
              <a:t>Uma demonstração preparada • 10 slides • 14min45s</a:t>
            </a:r>
          </a:p>
        </p:txBody>
      </p:sp>
    </p:spTree>
    <p:extLst>
      <p:ext uri="{BB962C8B-B14F-4D97-AF65-F5344CB8AC3E}">
        <p14:creationId xmlns:p14="http://schemas.microsoft.com/office/powerpoint/2010/main" val="919429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-70-42">
            <a:extLst xmlns:a="http://schemas.openxmlformats.org/drawingml/2006/main">
              <a:ext uri="{FF2B5EF4-FFF2-40B4-BE49-F238E27FC236}">
                <a16:creationId xmlns:a16="http://schemas.microsoft.com/office/drawing/2014/main" id="{B8B77BC0-B61F-4722-B32C-31EAE27B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Spec Driven Development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5C98A538-429C-4E14-A644-4070F29E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-69-224">
            <a:extLst xmlns:a="http://schemas.openxmlformats.org/drawingml/2006/main">
              <a:ext uri="{FF2B5EF4-FFF2-40B4-BE49-F238E27FC236}">
                <a16:creationId xmlns:a16="http://schemas.microsoft.com/office/drawing/2014/main" id="{51CA92AF-5D34-4D18-B33B-6C7DEFDD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336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4" name="t-69-298">
            <a:extLst xmlns:a="http://schemas.openxmlformats.org/drawingml/2006/main">
              <a:ext uri="{FF2B5EF4-FFF2-40B4-BE49-F238E27FC236}">
                <a16:creationId xmlns:a16="http://schemas.microsoft.com/office/drawing/2014/main" id="{51870B6F-CA42-4E8C-9210-C63335B1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o quê e por quê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4222A-DFF5-4829-9E2C-A8F1C17F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28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6" name="t-311-224">
            <a:extLst xmlns:a="http://schemas.openxmlformats.org/drawingml/2006/main">
              <a:ext uri="{FF2B5EF4-FFF2-40B4-BE49-F238E27FC236}">
                <a16:creationId xmlns:a16="http://schemas.microsoft.com/office/drawing/2014/main" id="{1EC62E42-DC96-4B4E-996D-44A5357B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1336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7" name="t-311-298">
            <a:extLst xmlns:a="http://schemas.openxmlformats.org/drawingml/2006/main">
              <a:ext uri="{FF2B5EF4-FFF2-40B4-BE49-F238E27FC236}">
                <a16:creationId xmlns:a16="http://schemas.microsoft.com/office/drawing/2014/main" id="{52A3CD3D-A95D-482F-922C-D15AC5A5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384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critérios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4A715-EA89-43DA-88A2-7A3E51D4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9" name="t-553-224">
            <a:extLst xmlns:a="http://schemas.openxmlformats.org/drawingml/2006/main">
              <a:ext uri="{FF2B5EF4-FFF2-40B4-BE49-F238E27FC236}">
                <a16:creationId xmlns:a16="http://schemas.microsoft.com/office/drawing/2014/main" id="{B9ED79F2-8FFB-492E-98B9-8AE497D1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336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Plano</a:t>
            </a:r>
          </a:p>
        </p:txBody>
      </p:sp>
      <p:sp>
        <p:nvSpPr>
          <p:cNvPr id="10" name="t-553-298">
            <a:extLst xmlns:a="http://schemas.openxmlformats.org/drawingml/2006/main">
              <a:ext uri="{FF2B5EF4-FFF2-40B4-BE49-F238E27FC236}">
                <a16:creationId xmlns:a16="http://schemas.microsoft.com/office/drawing/2014/main" id="{891F1583-D97C-41FC-AC6D-7D7F6E95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384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como fazer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400B4-913F-4C69-A5D0-9A87F195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12" name="t-795-224">
            <a:extLst xmlns:a="http://schemas.openxmlformats.org/drawingml/2006/main">
              <a:ext uri="{FF2B5EF4-FFF2-40B4-BE49-F238E27FC236}">
                <a16:creationId xmlns:a16="http://schemas.microsoft.com/office/drawing/2014/main" id="{62E961DA-CACE-46A6-963D-F2270272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336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Mudança</a:t>
            </a:r>
          </a:p>
        </p:txBody>
      </p:sp>
      <p:sp>
        <p:nvSpPr>
          <p:cNvPr id="13" name="t-795-298">
            <a:extLst xmlns:a="http://schemas.openxmlformats.org/drawingml/2006/main">
              <a:ext uri="{FF2B5EF4-FFF2-40B4-BE49-F238E27FC236}">
                <a16:creationId xmlns:a16="http://schemas.microsoft.com/office/drawing/2014/main" id="{44BD249B-9BD4-4BB7-BB49-2304AC3B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384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executar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5AF68-4ADD-4CAF-AC19-36290E58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28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15" name="t-1037-224">
            <a:extLst xmlns:a="http://schemas.openxmlformats.org/drawingml/2006/main">
              <a:ext uri="{FF2B5EF4-FFF2-40B4-BE49-F238E27FC236}">
                <a16:creationId xmlns:a16="http://schemas.microsoft.com/office/drawing/2014/main" id="{1D8CF5DB-530D-408F-83D8-0DECF8D3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336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16" name="t-1037-298">
            <a:extLst xmlns:a="http://schemas.openxmlformats.org/drawingml/2006/main">
              <a:ext uri="{FF2B5EF4-FFF2-40B4-BE49-F238E27FC236}">
                <a16:creationId xmlns:a16="http://schemas.microsoft.com/office/drawing/2014/main" id="{282A156C-9FB0-4650-8C87-3B1D99F6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38450"/>
            <a:ext cx="2076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conferir</a:t>
            </a:r>
          </a:p>
        </p:txBody>
      </p:sp>
      <p:sp>
        <p:nvSpPr>
          <p:cNvPr id="17" name="t-75-482">
            <a:extLst xmlns:a="http://schemas.openxmlformats.org/drawingml/2006/main">
              <a:ext uri="{FF2B5EF4-FFF2-40B4-BE49-F238E27FC236}">
                <a16:creationId xmlns:a16="http://schemas.microsoft.com/office/drawing/2014/main" id="{3173125D-52E8-4077-8AD8-D7E4DD00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A spec torna a intenção revisável antes da implementação.</a:t>
            </a:r>
          </a:p>
        </p:txBody>
      </p:sp>
      <p:sp>
        <p:nvSpPr>
          <p:cNvPr id="18" name="t-75-597">
            <a:extLst xmlns:a="http://schemas.openxmlformats.org/drawingml/2006/main">
              <a:ext uri="{FF2B5EF4-FFF2-40B4-BE49-F238E27FC236}">
                <a16:creationId xmlns:a16="http://schemas.microsoft.com/office/drawing/2014/main" id="{2F7F24DF-3ABE-43B1-9954-F671A6C6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864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Conceito geral; Spec Kit é uma implementação possível.</a:t>
            </a:r>
          </a:p>
        </p:txBody>
      </p:sp>
    </p:spTree>
    <p:extLst>
      <p:ext uri="{BB962C8B-B14F-4D97-AF65-F5344CB8AC3E}">
        <p14:creationId xmlns:p14="http://schemas.microsoft.com/office/powerpoint/2010/main" val="1963014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-70-42">
            <a:extLst xmlns:a="http://schemas.openxmlformats.org/drawingml/2006/main">
              <a:ext uri="{FF2B5EF4-FFF2-40B4-BE49-F238E27FC236}">
                <a16:creationId xmlns:a16="http://schemas.microsoft.com/office/drawing/2014/main" id="{7402C187-4CD3-4658-B347-C9985C6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O que o ADD acrescenta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7FD90E99-619F-48E5-9257-0C1AD1C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-78-194">
            <a:extLst xmlns:a="http://schemas.openxmlformats.org/drawingml/2006/main">
              <a:ext uri="{FF2B5EF4-FFF2-40B4-BE49-F238E27FC236}">
                <a16:creationId xmlns:a16="http://schemas.microsoft.com/office/drawing/2014/main" id="{2572056C-7441-4201-A380-BF60754C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Memória local</a:t>
            </a:r>
          </a:p>
        </p:txBody>
      </p:sp>
      <p:sp>
        <p:nvSpPr>
          <p:cNvPr id="4" name="t-461-194">
            <a:extLst xmlns:a="http://schemas.openxmlformats.org/drawingml/2006/main">
              <a:ext uri="{FF2B5EF4-FFF2-40B4-BE49-F238E27FC236}">
                <a16:creationId xmlns:a16="http://schemas.microsoft.com/office/drawing/2014/main" id="{95DEFE96-A990-4992-A2A8-BEA6A8B5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47850"/>
            <a:ext cx="6457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vault com intenção e fontes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16AC2-1B4F-496F-8B00-6F6FC653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6" name="t-78-313">
            <a:extLst xmlns:a="http://schemas.openxmlformats.org/drawingml/2006/main">
              <a:ext uri="{FF2B5EF4-FFF2-40B4-BE49-F238E27FC236}">
                <a16:creationId xmlns:a16="http://schemas.microsoft.com/office/drawing/2014/main" id="{A25E8790-8860-448A-8D33-FDFFF41B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Autoridade humana</a:t>
            </a:r>
          </a:p>
        </p:txBody>
      </p:sp>
      <p:sp>
        <p:nvSpPr>
          <p:cNvPr id="7" name="t-461-313">
            <a:extLst xmlns:a="http://schemas.openxmlformats.org/drawingml/2006/main">
              <a:ext uri="{FF2B5EF4-FFF2-40B4-BE49-F238E27FC236}">
                <a16:creationId xmlns:a16="http://schemas.microsoft.com/office/drawing/2014/main" id="{3C352128-C41D-4EEB-AC8B-51D4432A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81325"/>
            <a:ext cx="6457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decisões e checkpoints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536F6-71AF-4BEA-B58C-FDB72E2F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1021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9" name="t-78-432">
            <a:extLst xmlns:a="http://schemas.openxmlformats.org/drawingml/2006/main">
              <a:ext uri="{FF2B5EF4-FFF2-40B4-BE49-F238E27FC236}">
                <a16:creationId xmlns:a16="http://schemas.microsoft.com/office/drawing/2014/main" id="{66F275CE-67C9-41CF-8CAE-D7E6A91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Prova e continuidade</a:t>
            </a:r>
          </a:p>
        </p:txBody>
      </p:sp>
      <p:sp>
        <p:nvSpPr>
          <p:cNvPr id="10" name="t-461-432">
            <a:extLst xmlns:a="http://schemas.openxmlformats.org/drawingml/2006/main">
              <a:ext uri="{FF2B5EF4-FFF2-40B4-BE49-F238E27FC236}">
                <a16:creationId xmlns:a16="http://schemas.microsoft.com/office/drawing/2014/main" id="{C0C16510-BA2F-4209-8BF2-619723D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14800"/>
            <a:ext cx="6457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evidence e reconciliação</a:t>
            </a:r>
          </a:p>
        </p:txBody>
      </p:sp>
      <p:sp>
        <p:nvSpPr>
          <p:cNvPr id="11" name="b-77-571">
            <a:extLst xmlns:a="http://schemas.openxmlformats.org/drawingml/2006/main">
              <a:ext uri="{FF2B5EF4-FFF2-40B4-BE49-F238E27FC236}">
                <a16:creationId xmlns:a16="http://schemas.microsoft.com/office/drawing/2014/main" id="{4C301B6A-79B5-45AE-A6D2-9E47DCED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44481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97B"/>
          </a:solidFill>
          <a:ln xmlns:a="http://schemas.openxmlformats.org/drawingml/2006/main" w="0">
            <a:noFill/>
          </a:ln>
        </p:spPr>
      </p:sp>
      <p:sp>
        <p:nvSpPr>
          <p:cNvPr id="12" name="t-89-578">
            <a:extLst xmlns:a="http://schemas.openxmlformats.org/drawingml/2006/main">
              <a:ext uri="{FF2B5EF4-FFF2-40B4-BE49-F238E27FC236}">
                <a16:creationId xmlns:a16="http://schemas.microsoft.com/office/drawing/2014/main" id="{D0F570F8-9454-46B5-BDBD-DFBAD8A8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505450"/>
            <a:ext cx="421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Guided ADD: “Atena, ...”</a:t>
            </a:r>
          </a:p>
        </p:txBody>
      </p:sp>
      <p:sp>
        <p:nvSpPr>
          <p:cNvPr id="13" name="b-582-571">
            <a:extLst xmlns:a="http://schemas.openxmlformats.org/drawingml/2006/main">
              <a:ext uri="{FF2B5EF4-FFF2-40B4-BE49-F238E27FC236}">
                <a16:creationId xmlns:a16="http://schemas.microsoft.com/office/drawing/2014/main" id="{31456E21-FD35-44CF-A177-B213BB68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38775"/>
            <a:ext cx="5362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545"/>
          </a:solidFill>
          <a:ln xmlns:a="http://schemas.openxmlformats.org/drawingml/2006/main" w="0">
            <a:noFill/>
          </a:ln>
        </p:spPr>
      </p:sp>
      <p:sp>
        <p:nvSpPr>
          <p:cNvPr id="14" name="t-594-578">
            <a:extLst xmlns:a="http://schemas.openxmlformats.org/drawingml/2006/main">
              <a:ext uri="{FF2B5EF4-FFF2-40B4-BE49-F238E27FC236}">
                <a16:creationId xmlns:a16="http://schemas.microsoft.com/office/drawing/2014/main" id="{E645C1F4-4660-41B6-89CD-41D730E2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05450"/>
            <a:ext cx="513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 Execution: pedido direto</a:t>
            </a:r>
          </a:p>
        </p:txBody>
      </p:sp>
    </p:spTree>
    <p:extLst>
      <p:ext uri="{BB962C8B-B14F-4D97-AF65-F5344CB8AC3E}">
        <p14:creationId xmlns:p14="http://schemas.microsoft.com/office/powerpoint/2010/main" val="64609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-70-42">
            <a:extLst xmlns:a="http://schemas.openxmlformats.org/drawingml/2006/main">
              <a:ext uri="{FF2B5EF4-FFF2-40B4-BE49-F238E27FC236}">
                <a16:creationId xmlns:a16="http://schemas.microsoft.com/office/drawing/2014/main" id="{DA73C839-9EEC-456F-BACD-EA96D6F6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Vaults: a memória do projeto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7B396D85-698E-442F-932B-BC347D13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b-70-192">
            <a:extLst xmlns:a="http://schemas.openxmlformats.org/drawingml/2006/main">
              <a:ext uri="{FF2B5EF4-FFF2-40B4-BE49-F238E27FC236}">
                <a16:creationId xmlns:a16="http://schemas.microsoft.com/office/drawing/2014/main" id="{B79065E7-AB5E-4E0B-84F3-8A2E6559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3429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</a:ln>
        </p:spPr>
      </p:sp>
      <p:sp>
        <p:nvSpPr>
          <p:cNvPr id="4" name="t-92-213">
            <a:extLst xmlns:a="http://schemas.openxmlformats.org/drawingml/2006/main">
              <a:ext uri="{FF2B5EF4-FFF2-40B4-BE49-F238E27FC236}">
                <a16:creationId xmlns:a16="http://schemas.microsoft.com/office/drawing/2014/main" id="{CD8B1BF3-8887-4A13-A93B-B2B413E0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CANON</a:t>
            </a:r>
          </a:p>
        </p:txBody>
      </p:sp>
      <p:sp>
        <p:nvSpPr>
          <p:cNvPr id="5" name="t-92-278">
            <a:extLst xmlns:a="http://schemas.openxmlformats.org/drawingml/2006/main">
              <a:ext uri="{FF2B5EF4-FFF2-40B4-BE49-F238E27FC236}">
                <a16:creationId xmlns:a16="http://schemas.microsoft.com/office/drawing/2014/main" id="{5385CBB6-1D38-413A-8B38-B32199D7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076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Intenção aprovada</a:t>
            </a:r>
          </a:p>
        </p:txBody>
      </p:sp>
      <p:sp>
        <p:nvSpPr>
          <p:cNvPr id="6" name="t-92-392">
            <a:extLst xmlns:a="http://schemas.openxmlformats.org/drawingml/2006/main">
              <a:ext uri="{FF2B5EF4-FFF2-40B4-BE49-F238E27FC236}">
                <a16:creationId xmlns:a16="http://schemas.microsoft.com/office/drawing/2014/main" id="{DDED666F-B14C-46C9-BAD1-D7CBB152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076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DEC-001 / DEC-002</a:t>
            </a:r>
          </a:p>
        </p:txBody>
      </p:sp>
      <p:sp>
        <p:nvSpPr>
          <p:cNvPr id="7" name="b-468-192">
            <a:extLst xmlns:a="http://schemas.openxmlformats.org/drawingml/2006/main">
              <a:ext uri="{FF2B5EF4-FFF2-40B4-BE49-F238E27FC236}">
                <a16:creationId xmlns:a16="http://schemas.microsoft.com/office/drawing/2014/main" id="{6396B430-D76C-4062-8BBE-DDCC45A1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3429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D8"/>
          </a:solidFill>
          <a:ln xmlns:a="http://schemas.openxmlformats.org/drawingml/2006/main" w="0">
            <a:noFill/>
          </a:ln>
        </p:spPr>
      </p:sp>
      <p:sp>
        <p:nvSpPr>
          <p:cNvPr id="8" name="t-490-213">
            <a:extLst xmlns:a="http://schemas.openxmlformats.org/drawingml/2006/main">
              <a:ext uri="{FF2B5EF4-FFF2-40B4-BE49-F238E27FC236}">
                <a16:creationId xmlns:a16="http://schemas.microsoft.com/office/drawing/2014/main" id="{A37B4FF1-D34A-4192-8314-44F449FD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28825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DRAFTS</a:t>
            </a:r>
          </a:p>
        </p:txBody>
      </p:sp>
      <p:sp>
        <p:nvSpPr>
          <p:cNvPr id="9" name="t-490-278">
            <a:extLst xmlns:a="http://schemas.openxmlformats.org/drawingml/2006/main">
              <a:ext uri="{FF2B5EF4-FFF2-40B4-BE49-F238E27FC236}">
                <a16:creationId xmlns:a16="http://schemas.microsoft.com/office/drawing/2014/main" id="{174A30BB-C460-4878-B8DC-B7E30B3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47950"/>
            <a:ext cx="3076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Propostas em revisão</a:t>
            </a:r>
          </a:p>
        </p:txBody>
      </p:sp>
      <p:sp>
        <p:nvSpPr>
          <p:cNvPr id="10" name="t-490-392">
            <a:extLst xmlns:a="http://schemas.openxmlformats.org/drawingml/2006/main">
              <a:ext uri="{FF2B5EF4-FFF2-40B4-BE49-F238E27FC236}">
                <a16:creationId xmlns:a16="http://schemas.microsoft.com/office/drawing/2014/main" id="{3C689DCC-D80D-4410-913A-51AA22DF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3076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Storyboard r2</a:t>
            </a:r>
          </a:p>
        </p:txBody>
      </p:sp>
      <p:sp>
        <p:nvSpPr>
          <p:cNvPr id="11" name="b-866-192">
            <a:extLst xmlns:a="http://schemas.openxmlformats.org/drawingml/2006/main">
              <a:ext uri="{FF2B5EF4-FFF2-40B4-BE49-F238E27FC236}">
                <a16:creationId xmlns:a16="http://schemas.microsoft.com/office/drawing/2014/main" id="{F7498C2A-AC2C-494B-B663-B217F48C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28800"/>
            <a:ext cx="3429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</a:ln>
        </p:spPr>
      </p:sp>
      <p:sp>
        <p:nvSpPr>
          <p:cNvPr id="12" name="t-888-213">
            <a:extLst xmlns:a="http://schemas.openxmlformats.org/drawingml/2006/main">
              <a:ext uri="{FF2B5EF4-FFF2-40B4-BE49-F238E27FC236}">
                <a16:creationId xmlns:a16="http://schemas.microsoft.com/office/drawing/2014/main" id="{96249BD9-272C-46FD-AE2F-2F32E847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28825"/>
            <a:ext cx="309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13" name="t-888-278">
            <a:extLst xmlns:a="http://schemas.openxmlformats.org/drawingml/2006/main">
              <a:ext uri="{FF2B5EF4-FFF2-40B4-BE49-F238E27FC236}">
                <a16:creationId xmlns:a16="http://schemas.microsoft.com/office/drawing/2014/main" id="{2015EA79-04B6-42F9-B754-05214231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30765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Fontes e hipóteses</a:t>
            </a:r>
          </a:p>
        </p:txBody>
      </p:sp>
      <p:sp>
        <p:nvSpPr>
          <p:cNvPr id="14" name="t-888-392">
            <a:extLst xmlns:a="http://schemas.openxmlformats.org/drawingml/2006/main">
              <a:ext uri="{FF2B5EF4-FFF2-40B4-BE49-F238E27FC236}">
                <a16:creationId xmlns:a16="http://schemas.microsoft.com/office/drawing/2014/main" id="{D0266D36-75E9-40CD-9E98-762768B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30765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Pesquisa documentada</a:t>
            </a:r>
          </a:p>
        </p:txBody>
      </p:sp>
      <p:sp>
        <p:nvSpPr>
          <p:cNvPr id="15" name="t-76-524">
            <a:extLst xmlns:a="http://schemas.openxmlformats.org/drawingml/2006/main">
              <a:ext uri="{FF2B5EF4-FFF2-40B4-BE49-F238E27FC236}">
                <a16:creationId xmlns:a16="http://schemas.microsoft.com/office/drawing/2014/main" id="{EB5D86B3-4824-4D46-B839-A2793680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.atena/</a:t>
            </a:r>
          </a:p>
        </p:txBody>
      </p:sp>
      <p:sp>
        <p:nvSpPr>
          <p:cNvPr id="16" name="t-287-524">
            <a:extLst xmlns:a="http://schemas.openxmlformats.org/drawingml/2006/main">
              <a:ext uri="{FF2B5EF4-FFF2-40B4-BE49-F238E27FC236}">
                <a16:creationId xmlns:a16="http://schemas.microsoft.com/office/drawing/2014/main" id="{11CDEA50-9F58-42AE-B89C-B48B3C85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9110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add.yaml  •  specs/  •  evidence/  •  generated/  •  state/plan.yaml</a:t>
            </a:r>
          </a:p>
        </p:txBody>
      </p:sp>
    </p:spTree>
    <p:extLst>
      <p:ext uri="{BB962C8B-B14F-4D97-AF65-F5344CB8AC3E}">
        <p14:creationId xmlns:p14="http://schemas.microsoft.com/office/powerpoint/2010/main" val="1889401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-70-42">
            <a:extLst xmlns:a="http://schemas.openxmlformats.org/drawingml/2006/main">
              <a:ext uri="{FF2B5EF4-FFF2-40B4-BE49-F238E27FC236}">
                <a16:creationId xmlns:a16="http://schemas.microsoft.com/office/drawing/2014/main" id="{A5CC370F-3435-4589-9348-6B977115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Graph: relações derivadas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3829EA13-C5AF-4330-A911-7C33CD5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b-83-223">
            <a:extLst xmlns:a="http://schemas.openxmlformats.org/drawingml/2006/main">
              <a:ext uri="{FF2B5EF4-FFF2-40B4-BE49-F238E27FC236}">
                <a16:creationId xmlns:a16="http://schemas.microsoft.com/office/drawing/2014/main" id="{3764C150-9E13-4DB3-A601-480302B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24075"/>
            <a:ext cx="380047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</a:ln>
        </p:spPr>
      </p:sp>
      <p:sp>
        <p:nvSpPr>
          <p:cNvPr id="4" name="b-796-223">
            <a:extLst xmlns:a="http://schemas.openxmlformats.org/drawingml/2006/main">
              <a:ext uri="{FF2B5EF4-FFF2-40B4-BE49-F238E27FC236}">
                <a16:creationId xmlns:a16="http://schemas.microsoft.com/office/drawing/2014/main" id="{8F89C852-E6FF-4CE3-9469-53EE9DB4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24075"/>
            <a:ext cx="380047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</a:ln>
        </p:spPr>
      </p:sp>
      <p:sp>
        <p:nvSpPr>
          <p:cNvPr id="5" name="t-117-250">
            <a:extLst xmlns:a="http://schemas.openxmlformats.org/drawingml/2006/main">
              <a:ext uri="{FF2B5EF4-FFF2-40B4-BE49-F238E27FC236}">
                <a16:creationId xmlns:a16="http://schemas.microsoft.com/office/drawing/2014/main" id="{7AFC034E-86E0-4FCF-8E9E-722F6947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81250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DEC-002</a:t>
            </a:r>
          </a:p>
        </p:txBody>
      </p:sp>
      <p:sp>
        <p:nvSpPr>
          <p:cNvPr id="6" name="t-117-323">
            <a:extLst xmlns:a="http://schemas.openxmlformats.org/drawingml/2006/main">
              <a:ext uri="{FF2B5EF4-FFF2-40B4-BE49-F238E27FC236}">
                <a16:creationId xmlns:a16="http://schemas.microsoft.com/office/drawing/2014/main" id="{402D71F4-6A7D-412A-A3C6-306BF68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765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Prontidão e progresso</a:t>
            </a:r>
          </a:p>
        </p:txBody>
      </p:sp>
      <p:sp>
        <p:nvSpPr>
          <p:cNvPr id="7" name="t-828-250">
            <a:extLst xmlns:a="http://schemas.openxmlformats.org/drawingml/2006/main">
              <a:ext uri="{FF2B5EF4-FFF2-40B4-BE49-F238E27FC236}">
                <a16:creationId xmlns:a16="http://schemas.microsoft.com/office/drawing/2014/main" id="{E1517AE6-73C8-42BC-90F3-58BB4BDD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DEC-001</a:t>
            </a:r>
          </a:p>
        </p:txBody>
      </p:sp>
      <p:sp>
        <p:nvSpPr>
          <p:cNvPr id="8" name="t-828-323">
            <a:extLst xmlns:a="http://schemas.openxmlformats.org/drawingml/2006/main">
              <a:ext uri="{FF2B5EF4-FFF2-40B4-BE49-F238E27FC236}">
                <a16:creationId xmlns:a16="http://schemas.microsoft.com/office/drawing/2014/main" id="{25C5E59E-3093-4F8F-B667-E9EF15D5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65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Trilha guiada de jogos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4015F-DECD-40EB-9E26-F50855CA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270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B67545"/>
            </a:solidFill>
          </a:ln>
        </p:spPr>
      </p:sp>
      <p:sp>
        <p:nvSpPr>
          <p:cNvPr id="10" name="t-576-248">
            <a:extLst xmlns:a="http://schemas.openxmlformats.org/drawingml/2006/main">
              <a:ext uri="{FF2B5EF4-FFF2-40B4-BE49-F238E27FC236}">
                <a16:creationId xmlns:a16="http://schemas.microsoft.com/office/drawing/2014/main" id="{0534817D-F698-40E2-989D-3EE26403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1323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7545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B67545"/>
                </a:solidFill>
                <a:latin typeface="Consolas"/>
                <a:ea typeface="Consolas"/>
                <a:cs typeface="Consolas"/>
              </a:rPr>
              <a:t>relations</a:t>
            </a:r>
          </a:p>
        </p:txBody>
      </p:sp>
      <p:sp>
        <p:nvSpPr>
          <p:cNvPr id="11" name="t-87-455">
            <a:extLst xmlns:a="http://schemas.openxmlformats.org/drawingml/2006/main">
              <a:ext uri="{FF2B5EF4-FFF2-40B4-BE49-F238E27FC236}">
                <a16:creationId xmlns:a16="http://schemas.microsoft.com/office/drawing/2014/main" id="{4768A668-B6B4-45EA-A45D-BD35033A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33875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Vínculo real nos registros; diagrama ilustrativo.</a:t>
            </a:r>
          </a:p>
        </p:txBody>
      </p:sp>
      <p:sp>
        <p:nvSpPr>
          <p:cNvPr id="12" name="b-82-536">
            <a:extLst xmlns:a="http://schemas.openxmlformats.org/drawingml/2006/main">
              <a:ext uri="{FF2B5EF4-FFF2-40B4-BE49-F238E27FC236}">
                <a16:creationId xmlns:a16="http://schemas.microsoft.com/office/drawing/2014/main" id="{167B043A-CAA6-4C04-8204-9F819CA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5822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5D8"/>
          </a:solidFill>
          <a:ln xmlns:a="http://schemas.openxmlformats.org/drawingml/2006/main" w="0">
            <a:noFill/>
          </a:ln>
        </p:spPr>
      </p:sp>
      <p:sp>
        <p:nvSpPr>
          <p:cNvPr id="13" name="t-102-553">
            <a:extLst xmlns:a="http://schemas.openxmlformats.org/drawingml/2006/main">
              <a:ext uri="{FF2B5EF4-FFF2-40B4-BE49-F238E27FC236}">
                <a16:creationId xmlns:a16="http://schemas.microsoft.com/office/drawing/2014/main" id="{735D9A4A-A052-4CA7-B34F-90A8460A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015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Saída configurada: generated/graph.production.json  •  arquivo ainda ausente</a:t>
            </a:r>
          </a:p>
        </p:txBody>
      </p:sp>
    </p:spTree>
    <p:extLst>
      <p:ext uri="{BB962C8B-B14F-4D97-AF65-F5344CB8AC3E}">
        <p14:creationId xmlns:p14="http://schemas.microsoft.com/office/powerpoint/2010/main" val="1176850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-70-42">
            <a:extLst xmlns:a="http://schemas.openxmlformats.org/drawingml/2006/main">
              <a:ext uri="{FF2B5EF4-FFF2-40B4-BE49-F238E27FC236}">
                <a16:creationId xmlns:a16="http://schemas.microsoft.com/office/drawing/2014/main" id="{B0E3D134-C156-4613-A17E-7A4B1762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O pedido vira uma spec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F2DD73E8-847C-4D80-8387-0F96B023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b-78-151">
            <a:extLst xmlns:a="http://schemas.openxmlformats.org/drawingml/2006/main">
              <a:ext uri="{FF2B5EF4-FFF2-40B4-BE49-F238E27FC236}">
                <a16:creationId xmlns:a16="http://schemas.microsoft.com/office/drawing/2014/main" id="{62917770-85D5-4726-8C3B-5814AAC9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545"/>
          </a:solidFill>
          <a:ln xmlns:a="http://schemas.openxmlformats.org/drawingml/2006/main" w="0">
            <a:noFill/>
          </a:ln>
        </p:spPr>
      </p:sp>
      <p:sp>
        <p:nvSpPr>
          <p:cNvPr id="4" name="t-90-158">
            <a:extLst xmlns:a="http://schemas.openxmlformats.org/drawingml/2006/main">
              <a:ext uri="{FF2B5EF4-FFF2-40B4-BE49-F238E27FC236}">
                <a16:creationId xmlns:a16="http://schemas.microsoft.com/office/drawing/2014/main" id="{5D955F29-9767-45B6-8A81-0ED2E493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DEMONSTRAÇÃO PREPARADA</a:t>
            </a:r>
          </a:p>
        </p:txBody>
      </p:sp>
      <p:sp>
        <p:nvSpPr>
          <p:cNvPr id="5" name="b-74-223">
            <a:extLst xmlns:a="http://schemas.openxmlformats.org/drawingml/2006/main">
              <a:ext uri="{FF2B5EF4-FFF2-40B4-BE49-F238E27FC236}">
                <a16:creationId xmlns:a16="http://schemas.microsoft.com/office/drawing/2014/main" id="{AB091885-28D6-47F3-BCE3-67939C65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5153025" cy="3152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</a:ln>
        </p:spPr>
      </p:sp>
      <p:sp>
        <p:nvSpPr>
          <p:cNvPr id="6" name="t-101-249">
            <a:extLst xmlns:a="http://schemas.openxmlformats.org/drawingml/2006/main">
              <a:ext uri="{FF2B5EF4-FFF2-40B4-BE49-F238E27FC236}">
                <a16:creationId xmlns:a16="http://schemas.microsoft.com/office/drawing/2014/main" id="{9B4F736E-8F85-4533-B905-E514AAD1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71725"/>
            <a:ext cx="4610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“Atena, acrescente um</a:t>
            </a:r>
          </a:p>
          <a:p xmlns:a="http://schemas.openxmlformats.org/drawingml/2006/main">
            <a:pPr>
              <a:defRPr sz="24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resumo de status...”</a:t>
            </a:r>
          </a:p>
        </p:txBody>
      </p:sp>
      <p:sp>
        <p:nvSpPr>
          <p:cNvPr id="7" name="t-101-435">
            <a:extLst xmlns:a="http://schemas.openxmlformats.org/drawingml/2006/main">
              <a:ext uri="{FF2B5EF4-FFF2-40B4-BE49-F238E27FC236}">
                <a16:creationId xmlns:a16="http://schemas.microsoft.com/office/drawing/2014/main" id="{DB937A7F-1E76-43E2-A2CD-9046BF42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43375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Resultado + limites + definição de pronto</a:t>
            </a:r>
          </a:p>
        </p:txBody>
      </p:sp>
      <p:sp>
        <p:nvSpPr>
          <p:cNvPr id="8" name="t-673-226">
            <a:extLst xmlns:a="http://schemas.openxmlformats.org/drawingml/2006/main">
              <a:ext uri="{FF2B5EF4-FFF2-40B4-BE49-F238E27FC236}">
                <a16:creationId xmlns:a16="http://schemas.microsoft.com/office/drawing/2014/main" id="{39622F81-F3ED-4C41-B2BB-EA713BDA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52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spec.md</a:t>
            </a:r>
          </a:p>
        </p:txBody>
      </p:sp>
      <p:sp>
        <p:nvSpPr>
          <p:cNvPr id="9" name="t-679-296">
            <a:extLst xmlns:a="http://schemas.openxmlformats.org/drawingml/2006/main">
              <a:ext uri="{FF2B5EF4-FFF2-40B4-BE49-F238E27FC236}">
                <a16:creationId xmlns:a16="http://schemas.microsoft.com/office/drawing/2014/main" id="{D7D844C1-6CD1-4CCE-BC58-B8CF929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19400"/>
            <a:ext cx="4800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Objetivo e escopo</a:t>
            </a:r>
          </a:p>
        </p:txBody>
      </p:sp>
      <p:sp>
        <p:nvSpPr>
          <p:cNvPr id="10" name="t-679-363">
            <a:extLst xmlns:a="http://schemas.openxmlformats.org/drawingml/2006/main">
              <a:ext uri="{FF2B5EF4-FFF2-40B4-BE49-F238E27FC236}">
                <a16:creationId xmlns:a16="http://schemas.microsoft.com/office/drawing/2014/main" id="{495D5E96-36EF-476F-BE25-C4734AE6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57575"/>
            <a:ext cx="4800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Não objetivos</a:t>
            </a:r>
          </a:p>
        </p:txBody>
      </p:sp>
      <p:sp>
        <p:nvSpPr>
          <p:cNvPr id="11" name="t-679-430">
            <a:extLst xmlns:a="http://schemas.openxmlformats.org/drawingml/2006/main">
              <a:ext uri="{FF2B5EF4-FFF2-40B4-BE49-F238E27FC236}">
                <a16:creationId xmlns:a16="http://schemas.microsoft.com/office/drawing/2014/main" id="{87E12E92-81F1-4A49-A48C-5E8DC613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95750"/>
            <a:ext cx="4800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Critérios observáveis</a:t>
            </a:r>
          </a:p>
        </p:txBody>
      </p:sp>
      <p:sp>
        <p:nvSpPr>
          <p:cNvPr id="12" name="t-679-497">
            <a:extLst xmlns:a="http://schemas.openxmlformats.org/drawingml/2006/main">
              <a:ext uri="{FF2B5EF4-FFF2-40B4-BE49-F238E27FC236}">
                <a16:creationId xmlns:a16="http://schemas.microsoft.com/office/drawing/2014/main" id="{79E39D66-1A36-4A78-A349-D13C2C5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33925"/>
            <a:ext cx="4800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Gaps: BLOCKING / RESOLVABLE / DEFERRED</a:t>
            </a:r>
          </a:p>
        </p:txBody>
      </p:sp>
      <p:sp>
        <p:nvSpPr>
          <p:cNvPr id="13" name="t-77-598">
            <a:extLst xmlns:a="http://schemas.openxmlformats.org/drawingml/2006/main">
              <a:ext uri="{FF2B5EF4-FFF2-40B4-BE49-F238E27FC236}">
                <a16:creationId xmlns:a16="http://schemas.microsoft.com/office/drawing/2014/main" id="{92E9F4F9-09B2-4C2D-AED3-3B918865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95950"/>
            <a:ext cx="10439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DRAFT no miniprojeto • autorizado pelo PLAN-007 principal</a:t>
            </a:r>
          </a:p>
        </p:txBody>
      </p:sp>
    </p:spTree>
    <p:extLst>
      <p:ext uri="{BB962C8B-B14F-4D97-AF65-F5344CB8AC3E}">
        <p14:creationId xmlns:p14="http://schemas.microsoft.com/office/powerpoint/2010/main" val="462264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-70-42">
            <a:extLst xmlns:a="http://schemas.openxmlformats.org/drawingml/2006/main">
              <a:ext uri="{FF2B5EF4-FFF2-40B4-BE49-F238E27FC236}">
                <a16:creationId xmlns:a16="http://schemas.microsoft.com/office/drawing/2014/main" id="{8005666B-A66C-42E8-BA03-AF0F127E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Plano e checkpoint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6592689D-B853-497B-9020-F063748A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b-78-151">
            <a:extLst xmlns:a="http://schemas.openxmlformats.org/drawingml/2006/main">
              <a:ext uri="{FF2B5EF4-FFF2-40B4-BE49-F238E27FC236}">
                <a16:creationId xmlns:a16="http://schemas.microsoft.com/office/drawing/2014/main" id="{99DDBA7C-C7F4-42B3-9EAB-579C880C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545"/>
          </a:solidFill>
          <a:ln xmlns:a="http://schemas.openxmlformats.org/drawingml/2006/main" w="0">
            <a:noFill/>
          </a:ln>
        </p:spPr>
      </p:sp>
      <p:sp>
        <p:nvSpPr>
          <p:cNvPr id="4" name="t-90-158">
            <a:extLst xmlns:a="http://schemas.openxmlformats.org/drawingml/2006/main">
              <a:ext uri="{FF2B5EF4-FFF2-40B4-BE49-F238E27FC236}">
                <a16:creationId xmlns:a16="http://schemas.microsoft.com/office/drawing/2014/main" id="{CD20B882-9213-44B4-A087-D2142767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DEMONSTRAÇÃO PREPARADA</a:t>
            </a:r>
          </a:p>
        </p:txBody>
      </p:sp>
      <p:sp>
        <p:nvSpPr>
          <p:cNvPr id="5" name="t-77-252">
            <a:extLst xmlns:a="http://schemas.openxmlformats.org/drawingml/2006/main">
              <a:ext uri="{FF2B5EF4-FFF2-40B4-BE49-F238E27FC236}">
                <a16:creationId xmlns:a16="http://schemas.microsoft.com/office/drawing/2014/main" id="{3E159CFF-871B-4216-949F-14C5759B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0030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-152-258">
            <a:extLst xmlns:a="http://schemas.openxmlformats.org/drawingml/2006/main">
              <a:ext uri="{FF2B5EF4-FFF2-40B4-BE49-F238E27FC236}">
                <a16:creationId xmlns:a16="http://schemas.microsoft.com/office/drawing/2014/main" id="{152F14D2-2C64-426A-98AB-221EC77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Conferir 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64EB4-6941-4B5E-AF84-16509E72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717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8" name="t-476-252">
            <a:extLst xmlns:a="http://schemas.openxmlformats.org/drawingml/2006/main">
              <a:ext uri="{FF2B5EF4-FFF2-40B4-BE49-F238E27FC236}">
                <a16:creationId xmlns:a16="http://schemas.microsoft.com/office/drawing/2014/main" id="{A598DF7A-AEC7-431D-9875-2200E1EA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-551-258">
            <a:extLst xmlns:a="http://schemas.openxmlformats.org/drawingml/2006/main">
              <a:ext uri="{FF2B5EF4-FFF2-40B4-BE49-F238E27FC236}">
                <a16:creationId xmlns:a16="http://schemas.microsoft.com/office/drawing/2014/main" id="{B4F38CE5-03F7-4E20-8642-ADF87BD0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4574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Criar resumo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2F930-819E-42C0-8288-2211E299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11" name="t-875-252">
            <a:extLst xmlns:a="http://schemas.openxmlformats.org/drawingml/2006/main">
              <a:ext uri="{FF2B5EF4-FFF2-40B4-BE49-F238E27FC236}">
                <a16:creationId xmlns:a16="http://schemas.microsoft.com/office/drawing/2014/main" id="{6F60B617-2235-46B6-B8E9-A64EC14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t-950-258">
            <a:extLst xmlns:a="http://schemas.openxmlformats.org/drawingml/2006/main">
              <a:ext uri="{FF2B5EF4-FFF2-40B4-BE49-F238E27FC236}">
                <a16:creationId xmlns:a16="http://schemas.microsoft.com/office/drawing/2014/main" id="{9A4BC7FD-A370-4588-9AD6-4E90E65F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Validar e registrar</a:t>
            </a:r>
          </a:p>
        </p:txBody>
      </p:sp>
      <p:sp>
        <p:nvSpPr>
          <p:cNvPr id="13" name="b-80-423">
            <a:extLst xmlns:a="http://schemas.openxmlformats.org/drawingml/2006/main">
              <a:ext uri="{FF2B5EF4-FFF2-40B4-BE49-F238E27FC236}">
                <a16:creationId xmlns:a16="http://schemas.microsoft.com/office/drawing/2014/main" id="{0E3C6E3F-B226-4697-80A7-8017270A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0601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</a:ln>
        </p:spPr>
      </p:sp>
      <p:sp>
        <p:nvSpPr>
          <p:cNvPr id="14" name="t-103-445">
            <a:extLst xmlns:a="http://schemas.openxmlformats.org/drawingml/2006/main">
              <a:ext uri="{FF2B5EF4-FFF2-40B4-BE49-F238E27FC236}">
                <a16:creationId xmlns:a16="http://schemas.microsoft.com/office/drawing/2014/main" id="{5650AF0C-4AD6-4E92-A7DC-F50C726B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386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Checkpoint: por plano • por lote • por etapa</a:t>
            </a:r>
          </a:p>
        </p:txBody>
      </p:sp>
      <p:sp>
        <p:nvSpPr>
          <p:cNvPr id="15" name="t-81-584">
            <a:extLst xmlns:a="http://schemas.openxmlformats.org/drawingml/2006/main">
              <a:ext uri="{FF2B5EF4-FFF2-40B4-BE49-F238E27FC236}">
                <a16:creationId xmlns:a16="http://schemas.microsoft.com/office/drawing/2014/main" id="{02304034-2F87-449C-98BB-AB6CC44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62600"/>
            <a:ext cx="1045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Neste miniprojeto: checkpoint didático, sem aprovação própria registrada.</a:t>
            </a:r>
          </a:p>
        </p:txBody>
      </p:sp>
    </p:spTree>
    <p:extLst>
      <p:ext uri="{BB962C8B-B14F-4D97-AF65-F5344CB8AC3E}">
        <p14:creationId xmlns:p14="http://schemas.microsoft.com/office/powerpoint/2010/main" val="1798657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-70-42">
            <a:extLst xmlns:a="http://schemas.openxmlformats.org/drawingml/2006/main">
              <a:ext uri="{FF2B5EF4-FFF2-40B4-BE49-F238E27FC236}">
                <a16:creationId xmlns:a16="http://schemas.microsoft.com/office/drawing/2014/main" id="{8B43E8A1-D27C-4913-A2A7-8881EF26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Mudança, teste e evidência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4849F5B2-1735-4280-A74F-1286886F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b-78-151">
            <a:extLst xmlns:a="http://schemas.openxmlformats.org/drawingml/2006/main">
              <a:ext uri="{FF2B5EF4-FFF2-40B4-BE49-F238E27FC236}">
                <a16:creationId xmlns:a16="http://schemas.microsoft.com/office/drawing/2014/main" id="{39E5CFE2-5EED-4367-9964-B6D6F99B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3143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545"/>
          </a:solidFill>
          <a:ln xmlns:a="http://schemas.openxmlformats.org/drawingml/2006/main" w="0">
            <a:noFill/>
          </a:ln>
        </p:spPr>
      </p:sp>
      <p:sp>
        <p:nvSpPr>
          <p:cNvPr id="4" name="t-90-158">
            <a:extLst xmlns:a="http://schemas.openxmlformats.org/drawingml/2006/main">
              <a:ext uri="{FF2B5EF4-FFF2-40B4-BE49-F238E27FC236}">
                <a16:creationId xmlns:a16="http://schemas.microsoft.com/office/drawing/2014/main" id="{10D54E1C-2628-44AE-A0DC-A5089E4C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DEMONSTRAÇÃO PREPARADA</a:t>
            </a:r>
          </a:p>
        </p:txBody>
      </p:sp>
      <p:sp>
        <p:nvSpPr>
          <p:cNvPr id="5" name="t-77-256">
            <a:extLst xmlns:a="http://schemas.openxmlformats.org/drawingml/2006/main">
              <a:ext uri="{FF2B5EF4-FFF2-40B4-BE49-F238E27FC236}">
                <a16:creationId xmlns:a16="http://schemas.microsoft.com/office/drawing/2014/main" id="{8EE5842F-7303-479A-A6D9-6A7679F6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38400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t-77-327">
            <a:extLst xmlns:a="http://schemas.openxmlformats.org/drawingml/2006/main">
              <a:ext uri="{FF2B5EF4-FFF2-40B4-BE49-F238E27FC236}">
                <a16:creationId xmlns:a16="http://schemas.microsoft.com/office/drawing/2014/main" id="{244F6E80-1F8F-4F13-8E40-5CFAA15B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1467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arquivo ausente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C898C-BB90-45B0-AD8E-75EC2CA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622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D7D3"/>
            </a:solidFill>
          </a:ln>
        </p:spPr>
      </p:sp>
      <p:sp>
        <p:nvSpPr>
          <p:cNvPr id="8" name="t-376-256">
            <a:extLst xmlns:a="http://schemas.openxmlformats.org/drawingml/2006/main">
              <a:ext uri="{FF2B5EF4-FFF2-40B4-BE49-F238E27FC236}">
                <a16:creationId xmlns:a16="http://schemas.microsoft.com/office/drawing/2014/main" id="{169EF3F6-EBD7-4AE7-80EA-506C8A8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38400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9" name="t-376-327">
            <a:extLst xmlns:a="http://schemas.openxmlformats.org/drawingml/2006/main">
              <a:ext uri="{FF2B5EF4-FFF2-40B4-BE49-F238E27FC236}">
                <a16:creationId xmlns:a16="http://schemas.microsoft.com/office/drawing/2014/main" id="{4BCD54A0-CAB7-4A6E-B530-B80453C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resumo criado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1B95C-2861-465E-AF4E-E4E20A86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622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D7D3"/>
            </a:solidFill>
          </a:ln>
        </p:spPr>
      </p:sp>
      <p:sp>
        <p:nvSpPr>
          <p:cNvPr id="11" name="t-675-256">
            <a:extLst xmlns:a="http://schemas.openxmlformats.org/drawingml/2006/main">
              <a:ext uri="{FF2B5EF4-FFF2-40B4-BE49-F238E27FC236}">
                <a16:creationId xmlns:a16="http://schemas.microsoft.com/office/drawing/2014/main" id="{5CF6DEAF-BEFB-4A8C-9D20-F8FE374A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38400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2" name="t-675-327">
            <a:extLst xmlns:a="http://schemas.openxmlformats.org/drawingml/2006/main">
              <a:ext uri="{FF2B5EF4-FFF2-40B4-BE49-F238E27FC236}">
                <a16:creationId xmlns:a16="http://schemas.microsoft.com/office/drawing/2014/main" id="{59CD45DC-EFB6-42A0-8833-52DA1E3C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1467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campos conferidos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64152-D306-41DF-89B6-3C054F68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D7D3"/>
            </a:solidFill>
          </a:ln>
        </p:spPr>
      </p:sp>
      <p:sp>
        <p:nvSpPr>
          <p:cNvPr id="14" name="t-974-256">
            <a:extLst xmlns:a="http://schemas.openxmlformats.org/drawingml/2006/main">
              <a:ext uri="{FF2B5EF4-FFF2-40B4-BE49-F238E27FC236}">
                <a16:creationId xmlns:a16="http://schemas.microsoft.com/office/drawing/2014/main" id="{245875C7-BC22-4D2A-842E-19DB9DB8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38400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15" name="t-974-327">
            <a:extLst xmlns:a="http://schemas.openxmlformats.org/drawingml/2006/main">
              <a:ext uri="{FF2B5EF4-FFF2-40B4-BE49-F238E27FC236}">
                <a16:creationId xmlns:a16="http://schemas.microsoft.com/office/drawing/2014/main" id="{CDED758A-9ACD-4B01-8089-8145F898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14675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resultado registrado</a:t>
            </a:r>
          </a:p>
        </p:txBody>
      </p:sp>
      <p:sp>
        <p:nvSpPr>
          <p:cNvPr id="16" name="b-76-478">
            <a:extLst xmlns:a="http://schemas.openxmlformats.org/drawingml/2006/main">
              <a:ext uri="{FF2B5EF4-FFF2-40B4-BE49-F238E27FC236}">
                <a16:creationId xmlns:a16="http://schemas.microsoft.com/office/drawing/2014/main" id="{163BDDB6-22C2-4717-AAB6-A9C09DC9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4298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FEB"/>
          </a:solidFill>
          <a:ln xmlns:a="http://schemas.openxmlformats.org/drawingml/2006/main" w="0">
            <a:noFill/>
          </a:ln>
        </p:spPr>
      </p:sp>
      <p:sp>
        <p:nvSpPr>
          <p:cNvPr id="17" name="t-99-497">
            <a:extLst xmlns:a="http://schemas.openxmlformats.org/drawingml/2006/main">
              <a:ext uri="{FF2B5EF4-FFF2-40B4-BE49-F238E27FC236}">
                <a16:creationId xmlns:a16="http://schemas.microsoft.com/office/drawing/2014/main" id="{28EF0FD2-7C52-4798-A6E6-1DA0DEF6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33925"/>
            <a:ext cx="9925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Um check encontrou um termo ausente; a correção foi verificada.</a:t>
            </a:r>
          </a:p>
        </p:txBody>
      </p:sp>
    </p:spTree>
    <p:extLst>
      <p:ext uri="{BB962C8B-B14F-4D97-AF65-F5344CB8AC3E}">
        <p14:creationId xmlns:p14="http://schemas.microsoft.com/office/powerpoint/2010/main" val="1295735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-70-42">
            <a:extLst xmlns:a="http://schemas.openxmlformats.org/drawingml/2006/main">
              <a:ext uri="{FF2B5EF4-FFF2-40B4-BE49-F238E27FC236}">
                <a16:creationId xmlns:a16="http://schemas.microsoft.com/office/drawing/2014/main" id="{58D79E2B-951E-41C3-B353-96A70C5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Cinco práticas para usar Atena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AB18B20A-A24F-43B2-9FBD-79C72694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-78-170">
            <a:extLst xmlns:a="http://schemas.openxmlformats.org/drawingml/2006/main">
              <a:ext uri="{FF2B5EF4-FFF2-40B4-BE49-F238E27FC236}">
                <a16:creationId xmlns:a16="http://schemas.microsoft.com/office/drawing/2014/main" id="{A26A94E0-2DDE-4FD8-9AF9-27F4A296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t-158-170">
            <a:extLst xmlns:a="http://schemas.openxmlformats.org/drawingml/2006/main">
              <a:ext uri="{FF2B5EF4-FFF2-40B4-BE49-F238E27FC236}">
                <a16:creationId xmlns:a16="http://schemas.microsoft.com/office/drawing/2014/main" id="{8FB5EF3C-8DCF-4265-808B-7B801669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Diga o resultado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AB50A-9FA5-4CCE-96BB-D7B2872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6695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6" name="t-78-256">
            <a:extLst xmlns:a="http://schemas.openxmlformats.org/drawingml/2006/main">
              <a:ext uri="{FF2B5EF4-FFF2-40B4-BE49-F238E27FC236}">
                <a16:creationId xmlns:a16="http://schemas.microsoft.com/office/drawing/2014/main" id="{462BB66E-50E4-4458-9597-FD9C52E0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t-158-256">
            <a:extLst xmlns:a="http://schemas.openxmlformats.org/drawingml/2006/main">
              <a:ext uri="{FF2B5EF4-FFF2-40B4-BE49-F238E27FC236}">
                <a16:creationId xmlns:a16="http://schemas.microsoft.com/office/drawing/2014/main" id="{08658F4F-73D0-40FE-9DCE-3418086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Dê contexto e limites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BEF1C-92ED-4FD6-BA9E-3BFB0AF4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8610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9" name="t-78-342">
            <a:extLst xmlns:a="http://schemas.openxmlformats.org/drawingml/2006/main">
              <a:ext uri="{FF2B5EF4-FFF2-40B4-BE49-F238E27FC236}">
                <a16:creationId xmlns:a16="http://schemas.microsoft.com/office/drawing/2014/main" id="{850BBE33-88D6-410E-AB0C-3F40A7E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t-158-342">
            <a:extLst xmlns:a="http://schemas.openxmlformats.org/drawingml/2006/main">
              <a:ext uri="{FF2B5EF4-FFF2-40B4-BE49-F238E27FC236}">
                <a16:creationId xmlns:a16="http://schemas.microsoft.com/office/drawing/2014/main" id="{C071E85D-ABAE-4565-A544-0DB56B7C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Defina o que é pronto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5B1B1-AC41-4F52-8C8C-429C11F2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0525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12" name="t-78-428">
            <a:extLst xmlns:a="http://schemas.openxmlformats.org/drawingml/2006/main">
              <a:ext uri="{FF2B5EF4-FFF2-40B4-BE49-F238E27FC236}">
                <a16:creationId xmlns:a16="http://schemas.microsoft.com/office/drawing/2014/main" id="{2FDD7E80-C0B4-41E5-9F89-B3445F89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t-158-428">
            <a:extLst xmlns:a="http://schemas.openxmlformats.org/drawingml/2006/main">
              <a:ext uri="{FF2B5EF4-FFF2-40B4-BE49-F238E27FC236}">
                <a16:creationId xmlns:a16="http://schemas.microsoft.com/office/drawing/2014/main" id="{FB9690FD-6F70-430F-8CA8-8766B13E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767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Revise decisões e checkpoints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E92C6-57E6-4071-A7E6-FA78E59F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2440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15" name="t-78-514">
            <a:extLst xmlns:a="http://schemas.openxmlformats.org/drawingml/2006/main">
              <a:ext uri="{FF2B5EF4-FFF2-40B4-BE49-F238E27FC236}">
                <a16:creationId xmlns:a16="http://schemas.microsoft.com/office/drawing/2014/main" id="{EB5D96ED-C27B-49E2-A390-582DC7D3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t-158-514">
            <a:extLst xmlns:a="http://schemas.openxmlformats.org/drawingml/2006/main">
              <a:ext uri="{FF2B5EF4-FFF2-40B4-BE49-F238E27FC236}">
                <a16:creationId xmlns:a16="http://schemas.microsoft.com/office/drawing/2014/main" id="{565545D9-D876-48ED-B821-6CDF1F8E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958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Leia a evidência</a:t>
            </a:r>
          </a:p>
        </p:txBody>
      </p:sp>
    </p:spTree>
    <p:extLst>
      <p:ext uri="{BB962C8B-B14F-4D97-AF65-F5344CB8AC3E}">
        <p14:creationId xmlns:p14="http://schemas.microsoft.com/office/powerpoint/2010/main" val="502060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-70-42">
            <a:extLst xmlns:a="http://schemas.openxmlformats.org/drawingml/2006/main">
              <a:ext uri="{FF2B5EF4-FFF2-40B4-BE49-F238E27FC236}">
                <a16:creationId xmlns:a16="http://schemas.microsoft.com/office/drawing/2014/main" id="{8AF6A2E8-2047-4D74-8365-090AD169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Repita o ciclo</a:t>
            </a:r>
          </a:p>
        </p:txBody>
      </p:sp>
      <p:sp>
        <p:nvSpPr>
          <p:cNvPr id="2" name="t-1162-662">
            <a:extLst xmlns:a="http://schemas.openxmlformats.org/drawingml/2006/main">
              <a:ext uri="{FF2B5EF4-FFF2-40B4-BE49-F238E27FC236}">
                <a16:creationId xmlns:a16="http://schemas.microsoft.com/office/drawing/2014/main" id="{90A263DA-4D2B-4494-8294-9B366F2D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-76-223">
            <a:extLst xmlns:a="http://schemas.openxmlformats.org/drawingml/2006/main">
              <a:ext uri="{FF2B5EF4-FFF2-40B4-BE49-F238E27FC236}">
                <a16:creationId xmlns:a16="http://schemas.microsoft.com/office/drawing/2014/main" id="{65496028-ED11-45D7-8AC7-A125E27A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3371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Pedido claro</a:t>
            </a:r>
          </a:p>
        </p:txBody>
      </p:sp>
      <p:sp>
        <p:nvSpPr>
          <p:cNvPr id="4" name="t-76-320">
            <a:extLst xmlns:a="http://schemas.openxmlformats.org/drawingml/2006/main">
              <a:ext uri="{FF2B5EF4-FFF2-40B4-BE49-F238E27FC236}">
                <a16:creationId xmlns:a16="http://schemas.microsoft.com/office/drawing/2014/main" id="{60DAAA64-F44C-495A-91CF-6E802F57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3242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resultado e limites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1ED65-B929-429A-9C53-566871E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4792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6" name="t-475-223">
            <a:extLst xmlns:a="http://schemas.openxmlformats.org/drawingml/2006/main">
              <a:ext uri="{FF2B5EF4-FFF2-40B4-BE49-F238E27FC236}">
                <a16:creationId xmlns:a16="http://schemas.microsoft.com/office/drawing/2014/main" id="{BA441207-3C1D-4528-BF60-FD85546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24075"/>
            <a:ext cx="3371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Mudança delimitada</a:t>
            </a:r>
          </a:p>
        </p:txBody>
      </p:sp>
      <p:sp>
        <p:nvSpPr>
          <p:cNvPr id="7" name="t-475-320">
            <a:extLst xmlns:a="http://schemas.openxmlformats.org/drawingml/2006/main">
              <a:ext uri="{FF2B5EF4-FFF2-40B4-BE49-F238E27FC236}">
                <a16:creationId xmlns:a16="http://schemas.microsoft.com/office/drawing/2014/main" id="{42DA64DD-0B18-4656-9342-BF9E0BB0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3242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plano e execução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ACD4F-314C-4ACE-9E1B-577A39CA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4792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9" name="t-874-223">
            <a:extLst xmlns:a="http://schemas.openxmlformats.org/drawingml/2006/main">
              <a:ext uri="{FF2B5EF4-FFF2-40B4-BE49-F238E27FC236}">
                <a16:creationId xmlns:a16="http://schemas.microsoft.com/office/drawing/2014/main" id="{85CA3E09-FF55-49DF-A814-7CF5F4E9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3371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Prova verificável</a:t>
            </a:r>
          </a:p>
        </p:txBody>
      </p:sp>
      <p:sp>
        <p:nvSpPr>
          <p:cNvPr id="10" name="t-874-320">
            <a:extLst xmlns:a="http://schemas.openxmlformats.org/drawingml/2006/main">
              <a:ext uri="{FF2B5EF4-FFF2-40B4-BE49-F238E27FC236}">
                <a16:creationId xmlns:a16="http://schemas.microsoft.com/office/drawing/2014/main" id="{4C17A5B8-A576-48C6-9BEB-72837659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33242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critério e evidência</a:t>
            </a:r>
          </a:p>
        </p:txBody>
      </p:sp>
      <p:sp>
        <p:nvSpPr>
          <p:cNvPr id="11" name="t-78-520">
            <a:extLst xmlns:a="http://schemas.openxmlformats.org/drawingml/2006/main">
              <a:ext uri="{FF2B5EF4-FFF2-40B4-BE49-F238E27FC236}">
                <a16:creationId xmlns:a16="http://schemas.microsoft.com/office/drawing/2014/main" id="{C1328BC4-7BF1-4BE9-A92C-94A5E98B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382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Comece com uma mudança pequena.</a:t>
            </a:r>
          </a:p>
        </p:txBody>
      </p:sp>
    </p:spTree>
    <p:extLst>
      <p:ext uri="{BB962C8B-B14F-4D97-AF65-F5344CB8AC3E}">
        <p14:creationId xmlns:p14="http://schemas.microsoft.com/office/powerpoint/2010/main" val="90932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2026-10-07T19:19:14.9420000Z</dcterms:created>
  <dcterms:modified xsi:type="dcterms:W3CDTF">2026-10-07T19:19:14.9430000Z</dcterms:modified>
</coreProperties>
</file>